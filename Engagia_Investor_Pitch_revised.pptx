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25"/>
  </p:sldIdLst>
  <p:notesMasterIdLst>
    <p:notesMasterId r:id="rId13"/>
  </p:notesMasterIdLst>
  <p:sldSz cx="12192000" cy="6858000"/>
  <p:notesSz cx="6858000" cy="12192000"/>
  <p:embeddedFontLst>
    <p:embeddedFont>
      <p:font typeface="DM Sans" pitchFamily="34" charset="0"/>
      <p:regular r:id="rId18"/>
      <p:bold r:id="rId19"/>
    </p:embeddedFont>
    <p:embeddedFont>
      <p:font typeface="Space Grotesk" pitchFamily="34"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customXml" Target="../customXml/item1.xml"/><Relationship Id="rId23" Type="http://schemas.openxmlformats.org/officeDocument/2006/relationships/customXml" Target="../customXml/item2.xml"/><Relationship Id="rId24" Type="http://schemas.openxmlformats.org/officeDocument/2006/relationships/customXml" Target="../customXml/item3.xml"/><Relationship Id="rId25"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we turn engagement survey results into dollar figures a CFO will believe. Introduce the agent by name: Engagia.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Companies spend heavily on engagement surveys like Gallup's Q12, but the output is a score. Finance doesn't fund scores. Replacing a leaver costs about half a salary in our default model, and our test company loses 18% of staff a year. The $438 billion is Gallup's own top-down estimate for the world economy (State of the Global Workplace 2025, covering 2024); it shows the size of the problem, but no single company can read its own share off it. That is the gap.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three gaps come from our own testing, rerun on the final code. Counting only respondents understated people costs by 36%. In a raw team ranking, about 94% of the extra turnover cost is what pure chance would produce, and the ten costliest teams fall back 63% the next year. A single number hides a range of about plus or minus 25% for a mid-size company. Our method addresses all three.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sentence to remember. The product is an AI agent: it reads the survey and the HR outcome files, runs the analysis, and explains the result in plain language, including how sure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needs only what most HR teams already have: the Q12 survey file and the HR records of who left, how many days people were absent, and their performance ratings. The cost assumptions are the defaults from our analysis; an absence day is valued at salary divided by 260 working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The check step is what sets us apart: before any dollar figure is shown, the agent tests for problems like leavers skipping the survey. The simulation predicts each person twice, before and after a one-point lift, and adds up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agent's pages. Every dollar figure comes from one simulation, so the CEO brief, the scenarios and Ask AI never disagree. The what-if figures are associations between engagement and outcomes in the data, shown with a range, not guaranteed savings. The team view leads with departments, because team-level costs are noisy; teams are named only when their extra cost holds up from one year to the next.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figures come from our own analysis of the capstone test datasets, not from real clients, rerun on the final code. Lead with the 5,000-employee company, because that is the size of a plausible customer: $35.1M a year in turnover and absence (913 leavers), and $3.8M a year associated with lifting everyone who answers 1 to 3 on Recognition by one point (about 127 fewer leavers; 95% range $2.9M to $4.7M). The 1,000,000-employee run is a scale and stress test: $7.0B a year in people costs (181,205 leavers, 18.1% turnover) and $877M for the same Recognition program (range $864M to $891M). Say 'associated with', not 'saved': the data shows associations, and the agent says so on every money page.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moat is method, not dashboards. The left column is what you get from simple arithmetic on a survey file and an HR file, which is how most in-house analyses start. Every money figure in Engagia comes from one simulation engine, carries a range, is labelled an association rather than a saving, and shows a warning when leavers skipped the survey. Team rankings are smoothed toward the company rate and shown only if they hold up the next year. On the 1,000,000-employee data they fall just short of that bar (74.7% kept against 75%), so the agent hides the team ranking and points to departments instead. That refusal is the feature.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financial layer on top of the engine; it adds to what was there and replaces nothing. Four things to say: ROI, payback and break-even need a program cost and a share-of-effect slider, and the page also shows the smallest score rise that would cover the cost. The sensitivity table (economic assumptions) and the 95% range (statistics) are shown separately. Every figure has a receipt. Every input carries its source, and placeholders are labelled as placeholders. The appendix slide covers the other safeguards: cost kept apart from opportunity, double-counting warnings, the optional productivity value, and the Gallup plausibility check.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showing the agent is real today: the method fixes and the financial layer are built and tested, and the next step is merging them into the main branch and polishing the demo. Fill in the ask, then invite questions and offer a live demo on the 5,000-employee test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Use if an investor asks how the figures avoid double counting, how productivity could be valued, or whether the data looks like Gallup's published research. The Gallup check compares team-level correlations in our data with the ranges in Gallup's 2024 Q12 meta-analysis; it is a sanity check, and none of our dollar figures use Gallup's numbers.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38611"/>
            <a:ext cx="10566400" cy="390658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38611"/>
            <a:ext cx="10566400" cy="390658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12800" y="1684089"/>
            <a:ext cx="762000" cy="50800"/>
          </a:xfrm>
          <a:prstGeom prst="rect">
            <a:avLst/>
          </a:prstGeom>
          <a:solidFill>
            <a:srgbClr val="F4A261"/>
          </a:solidFill>
          <a:ln/>
        </p:spPr>
      </p:sp>
      <p:sp>
        <p:nvSpPr>
          <p:cNvPr id="3" name="Text 1"/>
          <p:cNvSpPr/>
          <p:nvPr/>
        </p:nvSpPr>
        <p:spPr>
          <a:xfrm>
            <a:off x="812800" y="198888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4A261"/>
                </a:solidFill>
                <a:latin typeface="DM Sans" pitchFamily="34" charset="0"/>
                <a:ea typeface="DM Sans" pitchFamily="34" charset="-122"/>
                <a:cs typeface="DM Sans" pitchFamily="34" charset="-120"/>
              </a:rPr>
              <a:t>INVESTOR PITCH · SEED ROUND</a:t>
            </a:r>
            <a:endParaRPr lang="en-US" sz="1200" dirty="0"/>
          </a:p>
        </p:txBody>
      </p:sp>
      <p:sp>
        <p:nvSpPr>
          <p:cNvPr id="4" name="Text 2"/>
          <p:cNvSpPr/>
          <p:nvPr>
            <p:ph type="title"/>
          </p:nvPr>
        </p:nvSpPr>
        <p:spPr>
          <a:xfrm>
            <a:off x="812800" y="2456210"/>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i="0" spc="-200" kern="0" dirty="0">
                <a:solidFill>
                  <a:srgbClr val="F7F5F0"/>
                </a:solidFill>
                <a:latin typeface="Space Grotesk" pitchFamily="34" charset="0"/>
                <a:ea typeface="Space Grotesk" pitchFamily="34" charset="-122"/>
                <a:cs typeface="Space Grotesk" pitchFamily="34" charset="-120"/>
              </a:rPr>
              <a:t>Engag</a:t>
            </a:r>
            <a:r>
              <a:rPr lang="en-US" sz="10000" b="1" i="0" spc="-200" kern="0" dirty="0">
                <a:solidFill>
                  <a:srgbClr val="F4A261"/>
                </a:solidFill>
                <a:latin typeface="Space Grotesk" pitchFamily="34" charset="0"/>
                <a:ea typeface="Space Grotesk" pitchFamily="34" charset="-122"/>
                <a:cs typeface="Space Grotesk" pitchFamily="34" charset="-120"/>
              </a:rPr>
              <a:t>ia</a:t>
            </a:r>
            <a:endParaRPr lang="en-US" sz="10000" dirty="0"/>
          </a:p>
        </p:txBody>
      </p:sp>
      <p:sp>
        <p:nvSpPr>
          <p:cNvPr id="5" name="Text 3"/>
          <p:cNvSpPr/>
          <p:nvPr/>
        </p:nvSpPr>
        <p:spPr>
          <a:xfrm>
            <a:off x="812800" y="3980210"/>
            <a:ext cx="850265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2E3"/>
                </a:solidFill>
                <a:latin typeface="DM Sans" pitchFamily="34" charset="0"/>
                <a:ea typeface="DM Sans" pitchFamily="34" charset="-122"/>
                <a:cs typeface="DM Sans" pitchFamily="34" charset="-120"/>
              </a:rPr>
              <a:t>An AI agent that turns employee engagement surveys into dollar figures leaders can trust.</a:t>
            </a:r>
            <a:endParaRPr lang="en-US" sz="2200" dirty="0"/>
          </a:p>
        </p:txBody>
      </p:sp>
      <p:sp>
        <p:nvSpPr>
          <p:cNvPr id="6" name="Text 4"/>
          <p:cNvSpPr/>
          <p:nvPr/>
        </p:nvSpPr>
        <p:spPr>
          <a:xfrm>
            <a:off x="812800" y="496059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BD"/>
                </a:solidFill>
                <a:latin typeface="DM Sans" pitchFamily="34" charset="0"/>
                <a:ea typeface="DM Sans" pitchFamily="34" charset="-122"/>
                <a:cs typeface="DM Sans" pitchFamily="34" charset="-120"/>
              </a:rPr>
              <a:t>[Founder names] · GWU MSBA · DNSC 6317 Business Analytics Practicum, Group 10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E15"/>
                </a:solidFill>
                <a:latin typeface="DM Sans" pitchFamily="34" charset="0"/>
                <a:ea typeface="DM Sans" pitchFamily="34" charset="-122"/>
                <a:cs typeface="DM Sans" pitchFamily="34" charset="-120"/>
              </a:rPr>
              <a:t>THE PROBLEM</a:t>
            </a:r>
            <a:endParaRPr lang="en-US" sz="1200" dirty="0"/>
          </a:p>
        </p:txBody>
      </p:sp>
      <p:sp>
        <p:nvSpPr>
          <p:cNvPr id="3" name="Text 1"/>
          <p:cNvSpPr/>
          <p:nvPr>
            <p:ph type="title"/>
          </p:nvPr>
        </p:nvSpPr>
        <p:spPr>
          <a:xfrm>
            <a:off x="812800" y="13309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Engagement surveys produce scores, not dollars</a:t>
            </a:r>
            <a:endParaRPr lang="en-US" sz="3600" dirty="0"/>
          </a:p>
        </p:txBody>
      </p:sp>
      <p:sp>
        <p:nvSpPr>
          <p:cNvPr id="4" name="Shape 2"/>
          <p:cNvSpPr/>
          <p:nvPr/>
        </p:nvSpPr>
        <p:spPr>
          <a:xfrm>
            <a:off x="815975" y="2644676"/>
            <a:ext cx="3380284" cy="2358281"/>
          </a:xfrm>
          <a:prstGeom prst="roundRect">
            <a:avLst>
              <a:gd name="adj" fmla="val 4174"/>
            </a:avLst>
          </a:prstGeom>
          <a:solidFill>
            <a:srgbClr val="FDFCF9"/>
          </a:solidFill>
          <a:ln w="6350">
            <a:solidFill>
              <a:srgbClr val="DDD8CC"/>
            </a:solidFill>
            <a:prstDash val="solid"/>
          </a:ln>
        </p:spPr>
      </p:sp>
      <p:sp>
        <p:nvSpPr>
          <p:cNvPr id="5" name="Text 3"/>
          <p:cNvSpPr/>
          <p:nvPr/>
        </p:nvSpPr>
        <p:spPr>
          <a:xfrm>
            <a:off x="1123950" y="2952651"/>
            <a:ext cx="2847264"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84E15"/>
                </a:solidFill>
                <a:latin typeface="Space Grotesk" pitchFamily="34" charset="0"/>
                <a:ea typeface="Space Grotesk" pitchFamily="34" charset="-122"/>
                <a:cs typeface="Space Grotesk" pitchFamily="34" charset="-120"/>
              </a:rPr>
              <a:t>50%</a:t>
            </a:r>
            <a:endParaRPr lang="en-US" sz="3600" dirty="0"/>
          </a:p>
        </p:txBody>
      </p:sp>
      <p:sp>
        <p:nvSpPr>
          <p:cNvPr id="6" name="Text 4"/>
          <p:cNvSpPr/>
          <p:nvPr/>
        </p:nvSpPr>
        <p:spPr>
          <a:xfrm>
            <a:off x="1123950" y="3557141"/>
            <a:ext cx="2847264"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of a year’s salary to replace one person who leaves (our default; 25–200% in practice)</a:t>
            </a:r>
            <a:endParaRPr lang="en-US" sz="1600" dirty="0"/>
          </a:p>
        </p:txBody>
      </p:sp>
      <p:sp>
        <p:nvSpPr>
          <p:cNvPr id="7" name="Shape 5"/>
          <p:cNvSpPr/>
          <p:nvPr/>
        </p:nvSpPr>
        <p:spPr>
          <a:xfrm>
            <a:off x="4405809" y="2644676"/>
            <a:ext cx="3380333" cy="2358281"/>
          </a:xfrm>
          <a:prstGeom prst="roundRect">
            <a:avLst>
              <a:gd name="adj" fmla="val 4174"/>
            </a:avLst>
          </a:prstGeom>
          <a:solidFill>
            <a:srgbClr val="FDFCF9"/>
          </a:solidFill>
          <a:ln w="6350">
            <a:solidFill>
              <a:srgbClr val="DDD8CC"/>
            </a:solidFill>
            <a:prstDash val="solid"/>
          </a:ln>
        </p:spPr>
      </p:sp>
      <p:sp>
        <p:nvSpPr>
          <p:cNvPr id="8" name="Text 6"/>
          <p:cNvSpPr/>
          <p:nvPr/>
        </p:nvSpPr>
        <p:spPr>
          <a:xfrm>
            <a:off x="4713784" y="2952651"/>
            <a:ext cx="2847315"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84E15"/>
                </a:solidFill>
                <a:latin typeface="Space Grotesk" pitchFamily="34" charset="0"/>
                <a:ea typeface="Space Grotesk" pitchFamily="34" charset="-122"/>
                <a:cs typeface="Space Grotesk" pitchFamily="34" charset="-120"/>
              </a:rPr>
              <a:t>18%</a:t>
            </a:r>
            <a:endParaRPr lang="en-US" sz="3600" dirty="0"/>
          </a:p>
        </p:txBody>
      </p:sp>
      <p:sp>
        <p:nvSpPr>
          <p:cNvPr id="9" name="Text 7"/>
          <p:cNvSpPr/>
          <p:nvPr/>
        </p:nvSpPr>
        <p:spPr>
          <a:xfrm>
            <a:off x="4713784" y="3557141"/>
            <a:ext cx="2847315"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of staff leave each year in our 1-million-employee test company</a:t>
            </a:r>
            <a:endParaRPr lang="en-US" sz="1600" dirty="0"/>
          </a:p>
        </p:txBody>
      </p:sp>
      <p:sp>
        <p:nvSpPr>
          <p:cNvPr id="10" name="Shape 8"/>
          <p:cNvSpPr/>
          <p:nvPr/>
        </p:nvSpPr>
        <p:spPr>
          <a:xfrm>
            <a:off x="7995692" y="2644676"/>
            <a:ext cx="3380333" cy="2358281"/>
          </a:xfrm>
          <a:prstGeom prst="roundRect">
            <a:avLst>
              <a:gd name="adj" fmla="val 4174"/>
            </a:avLst>
          </a:prstGeom>
          <a:solidFill>
            <a:srgbClr val="FDFCF9"/>
          </a:solidFill>
          <a:ln w="6350">
            <a:solidFill>
              <a:srgbClr val="DDD8CC"/>
            </a:solidFill>
            <a:prstDash val="solid"/>
          </a:ln>
        </p:spPr>
      </p:sp>
      <p:sp>
        <p:nvSpPr>
          <p:cNvPr id="11" name="Text 9"/>
          <p:cNvSpPr/>
          <p:nvPr/>
        </p:nvSpPr>
        <p:spPr>
          <a:xfrm>
            <a:off x="8303667" y="2952651"/>
            <a:ext cx="2847315"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84E15"/>
                </a:solidFill>
                <a:latin typeface="Space Grotesk" pitchFamily="34" charset="0"/>
                <a:ea typeface="Space Grotesk" pitchFamily="34" charset="-122"/>
                <a:cs typeface="Space Grotesk" pitchFamily="34" charset="-120"/>
              </a:rPr>
              <a:t>$438B</a:t>
            </a:r>
            <a:endParaRPr lang="en-US" sz="3600" dirty="0"/>
          </a:p>
        </p:txBody>
      </p:sp>
      <p:sp>
        <p:nvSpPr>
          <p:cNvPr id="12" name="Text 10"/>
          <p:cNvSpPr/>
          <p:nvPr/>
        </p:nvSpPr>
        <p:spPr>
          <a:xfrm>
            <a:off x="8303667" y="3557141"/>
            <a:ext cx="2847315" cy="116128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lost to low engagement worldwide in 2024, by Gallup's own estimate (State of the Global Workplace, 2025)</a:t>
            </a:r>
            <a:endParaRPr lang="en-US" sz="1600" dirty="0"/>
          </a:p>
        </p:txBody>
      </p:sp>
      <p:sp>
        <p:nvSpPr>
          <p:cNvPr id="13" name="Text 11"/>
          <p:cNvSpPr/>
          <p:nvPr/>
        </p:nvSpPr>
        <p:spPr>
          <a:xfrm>
            <a:off x="812800" y="531093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A company cannot see its own share of that cost, so engagement programs are hard to defend at budget time.</a:t>
            </a:r>
            <a:endParaRPr lang="en-US" sz="16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E15"/>
                </a:solidFill>
                <a:latin typeface="DM Sans" pitchFamily="34" charset="0"/>
                <a:ea typeface="DM Sans" pitchFamily="34" charset="-122"/>
                <a:cs typeface="DM Sans" pitchFamily="34" charset="-120"/>
              </a:rPr>
              <a:t>Engagia</a:t>
            </a:r>
            <a:r>
              <a:rPr lang="en-US" sz="1200" dirty="0">
                <a:solidFill>
                  <a:srgbClr val="6A7179"/>
                </a:solidFill>
                <a:latin typeface="DM Sans" pitchFamily="34" charset="0"/>
                <a:ea typeface="DM Sans" pitchFamily="34" charset="-122"/>
                <a:cs typeface="DM Sans" pitchFamily="34" charset="-120"/>
              </a:rPr>
              <a:t>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E15"/>
                </a:solidFill>
                <a:latin typeface="DM Sans" pitchFamily="34" charset="0"/>
                <a:ea typeface="DM Sans" pitchFamily="34" charset="-122"/>
                <a:cs typeface="DM Sans" pitchFamily="34" charset="-120"/>
              </a:rPr>
              <a:t>WHY TODAY’S NUMBERS MISLEAD</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Simple math gets the money wrong</a:t>
            </a:r>
            <a:endParaRPr lang="en-US" sz="3600" dirty="0"/>
          </a:p>
        </p:txBody>
      </p:sp>
      <p:sp>
        <p:nvSpPr>
          <p:cNvPr id="4" name="Shape 2"/>
          <p:cNvSpPr/>
          <p:nvPr/>
        </p:nvSpPr>
        <p:spPr>
          <a:xfrm>
            <a:off x="812800" y="2043361"/>
            <a:ext cx="10566400" cy="0"/>
          </a:xfrm>
          <a:prstGeom prst="line">
            <a:avLst/>
          </a:prstGeom>
          <a:noFill/>
          <a:ln w="12700">
            <a:solidFill>
              <a:srgbClr val="DDD8CC"/>
            </a:solidFill>
            <a:prstDash val="solid"/>
          </a:ln>
        </p:spPr>
      </p:sp>
      <p:sp>
        <p:nvSpPr>
          <p:cNvPr id="5" name="Text 3"/>
          <p:cNvSpPr/>
          <p:nvPr/>
        </p:nvSpPr>
        <p:spPr>
          <a:xfrm>
            <a:off x="812800" y="2382441"/>
            <a:ext cx="235458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84E15"/>
                </a:solidFill>
                <a:latin typeface="Space Grotesk" pitchFamily="34" charset="0"/>
                <a:ea typeface="Space Grotesk" pitchFamily="34" charset="-122"/>
                <a:cs typeface="Space Grotesk" pitchFamily="34" charset="-120"/>
              </a:rPr>
              <a:t>36% low</a:t>
            </a:r>
            <a:endParaRPr lang="en-US" sz="3600" dirty="0"/>
          </a:p>
        </p:txBody>
      </p:sp>
      <p:sp>
        <p:nvSpPr>
          <p:cNvPr id="6" name="Text 4"/>
          <p:cNvSpPr/>
          <p:nvPr/>
        </p:nvSpPr>
        <p:spPr>
          <a:xfrm>
            <a:off x="3403600" y="2202111"/>
            <a:ext cx="82148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Only survey takers are counted</a:t>
            </a:r>
            <a:endParaRPr lang="en-US" sz="1600" dirty="0"/>
          </a:p>
        </p:txBody>
      </p:sp>
      <p:sp>
        <p:nvSpPr>
          <p:cNvPr id="7" name="Text 5"/>
          <p:cNvSpPr/>
          <p:nvPr/>
        </p:nvSpPr>
        <p:spPr>
          <a:xfrm>
            <a:off x="3403600" y="2496741"/>
            <a:ext cx="821486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People who later leave answer less often (60% vs 86% in our test data), so counting only respondents understates the cost of turnover.</a:t>
            </a:r>
            <a:endParaRPr lang="en-US" sz="1600" dirty="0"/>
          </a:p>
        </p:txBody>
      </p:sp>
      <p:sp>
        <p:nvSpPr>
          <p:cNvPr id="8" name="Shape 6"/>
          <p:cNvSpPr/>
          <p:nvPr/>
        </p:nvSpPr>
        <p:spPr>
          <a:xfrm>
            <a:off x="812800" y="3224411"/>
            <a:ext cx="10566400" cy="0"/>
          </a:xfrm>
          <a:prstGeom prst="line">
            <a:avLst/>
          </a:prstGeom>
          <a:noFill/>
          <a:ln w="12700">
            <a:solidFill>
              <a:srgbClr val="DDD8CC"/>
            </a:solidFill>
            <a:prstDash val="solid"/>
          </a:ln>
        </p:spPr>
      </p:sp>
      <p:sp>
        <p:nvSpPr>
          <p:cNvPr id="9" name="Text 7"/>
          <p:cNvSpPr/>
          <p:nvPr/>
        </p:nvSpPr>
        <p:spPr>
          <a:xfrm>
            <a:off x="812800" y="3563491"/>
            <a:ext cx="259080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84E15"/>
                </a:solidFill>
                <a:latin typeface="Space Grotesk" pitchFamily="34" charset="0"/>
                <a:ea typeface="Space Grotesk" pitchFamily="34" charset="-122"/>
                <a:cs typeface="Space Grotesk" pitchFamily="34" charset="-120"/>
              </a:rPr>
              <a:t>94% noise</a:t>
            </a:r>
            <a:endParaRPr lang="en-US" sz="3600" dirty="0"/>
          </a:p>
        </p:txBody>
      </p:sp>
      <p:sp>
        <p:nvSpPr>
          <p:cNvPr id="10" name="Text 8"/>
          <p:cNvSpPr/>
          <p:nvPr/>
        </p:nvSpPr>
        <p:spPr>
          <a:xfrm>
            <a:off x="3403600" y="3383161"/>
            <a:ext cx="82148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Team “hot spots” are mostly chance</a:t>
            </a:r>
            <a:endParaRPr lang="en-US" sz="1600" dirty="0"/>
          </a:p>
        </p:txBody>
      </p:sp>
      <p:sp>
        <p:nvSpPr>
          <p:cNvPr id="11" name="Text 9"/>
          <p:cNvSpPr/>
          <p:nvPr/>
        </p:nvSpPr>
        <p:spPr>
          <a:xfrm>
            <a:off x="3403600" y="3677791"/>
            <a:ext cx="821486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In a team of 10, one extra leaver adds $30,000. In a raw ranking, the costliest teams fall back 63% the next year; after smoothing, only 15%.</a:t>
            </a:r>
            <a:endParaRPr lang="en-US" sz="1600" dirty="0"/>
          </a:p>
        </p:txBody>
      </p:sp>
      <p:sp>
        <p:nvSpPr>
          <p:cNvPr id="12" name="Shape 10"/>
          <p:cNvSpPr/>
          <p:nvPr/>
        </p:nvSpPr>
        <p:spPr>
          <a:xfrm>
            <a:off x="812800" y="4405461"/>
            <a:ext cx="10566400" cy="0"/>
          </a:xfrm>
          <a:prstGeom prst="line">
            <a:avLst/>
          </a:prstGeom>
          <a:noFill/>
          <a:ln w="12700">
            <a:solidFill>
              <a:srgbClr val="DDD8CC"/>
            </a:solidFill>
            <a:prstDash val="solid"/>
          </a:ln>
        </p:spPr>
      </p:sp>
      <p:sp>
        <p:nvSpPr>
          <p:cNvPr id="13" name="Shape 11"/>
          <p:cNvSpPr/>
          <p:nvPr/>
        </p:nvSpPr>
        <p:spPr>
          <a:xfrm>
            <a:off x="812800" y="5586512"/>
            <a:ext cx="10566400" cy="0"/>
          </a:xfrm>
          <a:prstGeom prst="line">
            <a:avLst/>
          </a:prstGeom>
          <a:noFill/>
          <a:ln w="12700">
            <a:solidFill>
              <a:srgbClr val="DDD8CC"/>
            </a:solidFill>
            <a:prstDash val="solid"/>
          </a:ln>
        </p:spPr>
      </p:sp>
      <p:sp>
        <p:nvSpPr>
          <p:cNvPr id="14" name="Text 12"/>
          <p:cNvSpPr/>
          <p:nvPr/>
        </p:nvSpPr>
        <p:spPr>
          <a:xfrm>
            <a:off x="812800" y="4744541"/>
            <a:ext cx="235458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84E15"/>
                </a:solidFill>
                <a:latin typeface="Space Grotesk" pitchFamily="34" charset="0"/>
                <a:ea typeface="Space Grotesk" pitchFamily="34" charset="-122"/>
                <a:cs typeface="Space Grotesk" pitchFamily="34" charset="-120"/>
              </a:rPr>
              <a:t>±25%</a:t>
            </a:r>
            <a:endParaRPr lang="en-US" sz="3600" dirty="0"/>
          </a:p>
        </p:txBody>
      </p:sp>
      <p:sp>
        <p:nvSpPr>
          <p:cNvPr id="15" name="Text 13"/>
          <p:cNvSpPr/>
          <p:nvPr/>
        </p:nvSpPr>
        <p:spPr>
          <a:xfrm>
            <a:off x="3403600" y="4564211"/>
            <a:ext cx="82148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DM Sans" pitchFamily="34" charset="0"/>
                <a:ea typeface="DM Sans" pitchFamily="34" charset="-122"/>
                <a:cs typeface="DM Sans" pitchFamily="34" charset="-120"/>
              </a:rPr>
              <a:t>One number, no range</a:t>
            </a:r>
            <a:endParaRPr lang="en-US" sz="1600" dirty="0"/>
          </a:p>
        </p:txBody>
      </p:sp>
      <p:sp>
        <p:nvSpPr>
          <p:cNvPr id="16" name="Text 14"/>
          <p:cNvSpPr/>
          <p:nvPr/>
        </p:nvSpPr>
        <p:spPr>
          <a:xfrm>
            <a:off x="3403600" y="4858841"/>
            <a:ext cx="821486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For a 5,000-person company, the modeled value can be a quarter higher or lower than a single number shows.</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DM Sans" pitchFamily="34" charset="0"/>
                <a:ea typeface="DM Sans" pitchFamily="34" charset="-122"/>
                <a:cs typeface="DM Sans" pitchFamily="34" charset="-120"/>
              </a:rPr>
              <a:t>Measured on synthetic capstone test data (1,000,000 and 5,000 employees), final code, October 2026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B84E15"/>
        </a:solidFill>
      </p:bgPr>
    </p:bg>
    <p:spTree>
      <p:nvGrpSpPr>
        <p:cNvPr id="1" name=""/>
        <p:cNvGrpSpPr/>
        <p:nvPr/>
      </p:nvGrpSpPr>
      <p:grpSpPr>
        <a:xfrm>
          <a:off x="0" y="0"/>
          <a:ext cx="0" cy="0"/>
          <a:chOff x="0" y="0"/>
          <a:chExt cx="0" cy="0"/>
        </a:xfrm>
      </p:grpSpPr>
      <p:sp>
        <p:nvSpPr>
          <p:cNvPr id="2" name="Text 0"/>
          <p:cNvSpPr/>
          <p:nvPr/>
        </p:nvSpPr>
        <p:spPr>
          <a:xfrm>
            <a:off x="812800" y="163075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F5F0"/>
                </a:solidFill>
                <a:latin typeface="DM Sans" pitchFamily="34" charset="0"/>
                <a:ea typeface="DM Sans" pitchFamily="34" charset="-122"/>
                <a:cs typeface="DM Sans" pitchFamily="34" charset="-120"/>
              </a:rPr>
              <a:t>THE SOLUTION</a:t>
            </a:r>
            <a:endParaRPr lang="en-US" sz="1200" dirty="0"/>
          </a:p>
        </p:txBody>
      </p:sp>
      <p:sp>
        <p:nvSpPr>
          <p:cNvPr id="3" name="Text 1"/>
          <p:cNvSpPr/>
          <p:nvPr>
            <p:ph type="title"/>
          </p:nvPr>
        </p:nvSpPr>
        <p:spPr>
          <a:xfrm>
            <a:off x="812800" y="2098080"/>
            <a:ext cx="10203180" cy="2128441"/>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4213D"/>
                </a:solidFill>
                <a:latin typeface="Space Grotesk" pitchFamily="34" charset="0"/>
                <a:ea typeface="Space Grotesk" pitchFamily="34" charset="-122"/>
                <a:cs typeface="Space Grotesk" pitchFamily="34" charset="-120"/>
              </a:rPr>
              <a:t>Engagia</a:t>
            </a:r>
            <a:r>
              <a:rPr lang="en-US" sz="3600" b="1" i="0" dirty="0">
                <a:solidFill>
                  <a:srgbClr val="F7F5F0"/>
                </a:solidFill>
                <a:latin typeface="Space Grotesk" pitchFamily="34" charset="0"/>
                <a:ea typeface="Space Grotesk" pitchFamily="34" charset="-122"/>
                <a:cs typeface="Space Grotesk" pitchFamily="34" charset="-120"/>
              </a:rPr>
              <a:t> is an AI analyst that turns a Q12 survey and HR records into a dollar figure, with the range and caveats a CFO will ask for.</a:t>
            </a:r>
            <a:endParaRPr lang="en-US" sz="3600" dirty="0"/>
          </a:p>
        </p:txBody>
      </p:sp>
      <p:sp>
        <p:nvSpPr>
          <p:cNvPr id="4" name="Text 2"/>
          <p:cNvSpPr/>
          <p:nvPr/>
        </p:nvSpPr>
        <p:spPr>
          <a:xfrm>
            <a:off x="812800" y="4455120"/>
            <a:ext cx="91567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F0"/>
                </a:solidFill>
                <a:latin typeface="DM Sans" pitchFamily="34" charset="0"/>
                <a:ea typeface="DM Sans" pitchFamily="34" charset="-122"/>
                <a:cs typeface="DM Sans" pitchFamily="34" charset="-120"/>
              </a:rPr>
              <a:t>Upload the data. Get what disengagement costs today, what fixing it is worth, and where to start.</a:t>
            </a:r>
            <a:endParaRPr lang="en-US" sz="16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F5F0"/>
                </a:solidFill>
                <a:latin typeface="DM Sans" pitchFamily="34" charset="0"/>
                <a:ea typeface="DM Sans" pitchFamily="34" charset="-122"/>
                <a:cs typeface="DM Sans" pitchFamily="34" charset="-120"/>
              </a:rPr>
              <a:t>Engagia</a:t>
            </a:r>
            <a:r>
              <a:rPr lang="en-US" sz="1200" dirty="0">
                <a:solidFill>
                  <a:srgbClr val="F7F5F0"/>
                </a:solidFill>
                <a:latin typeface="DM Sans" pitchFamily="34" charset="0"/>
                <a:ea typeface="DM Sans" pitchFamily="34" charset="-122"/>
                <a:cs typeface="DM Sans" pitchFamily="34" charset="-120"/>
              </a:rPr>
              <a:t>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E15"/>
                </a:solidFill>
                <a:latin typeface="DM Sans" pitchFamily="34" charset="0"/>
                <a:ea typeface="DM Sans" pitchFamily="34" charset="-122"/>
                <a:cs typeface="DM Sans" pitchFamily="34" charset="-120"/>
              </a:rPr>
              <a:t>WHAT GOES IN</a:t>
            </a:r>
            <a:endParaRPr lang="en-US" sz="1200" dirty="0"/>
          </a:p>
        </p:txBody>
      </p:sp>
      <p:sp>
        <p:nvSpPr>
          <p:cNvPr id="3" name="Text 1"/>
          <p:cNvSpPr/>
          <p:nvPr>
            <p:ph type="title"/>
          </p:nvPr>
        </p:nvSpPr>
        <p:spPr>
          <a:xfrm>
            <a:off x="812800" y="1330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Three inputs, no analyst needed</a:t>
            </a:r>
            <a:endParaRPr lang="en-US" sz="3600" dirty="0"/>
          </a:p>
        </p:txBody>
      </p:sp>
      <p:sp>
        <p:nvSpPr>
          <p:cNvPr id="4" name="Shape 2"/>
          <p:cNvSpPr/>
          <p:nvPr/>
        </p:nvSpPr>
        <p:spPr>
          <a:xfrm>
            <a:off x="815975" y="2141786"/>
            <a:ext cx="3380284" cy="2971800"/>
          </a:xfrm>
          <a:prstGeom prst="roundRect">
            <a:avLst>
              <a:gd name="adj" fmla="val 3717"/>
            </a:avLst>
          </a:prstGeom>
          <a:solidFill>
            <a:srgbClr val="FDFCF9"/>
          </a:solidFill>
          <a:ln w="6350">
            <a:solidFill>
              <a:srgbClr val="DDD8CC"/>
            </a:solidFill>
            <a:prstDash val="solid"/>
          </a:ln>
        </p:spPr>
      </p:sp>
      <p:pic>
        <p:nvPicPr>
          <p:cNvPr id="5" name="Image 0" descr="Users">    </p:cNvPr>
          <p:cNvPicPr>
            <a:picLocks noChangeAspect="1"/>
          </p:cNvPicPr>
          <p:nvPr/>
        </p:nvPicPr>
        <p:blipFill>
          <a:blip r:embed="rId1"/>
          <a:srcRect l="0" r="0" t="0" b="0"/>
          <a:stretch/>
        </p:blipFill>
        <p:spPr>
          <a:xfrm>
            <a:off x="1123950" y="2449761"/>
            <a:ext cx="355600" cy="355600"/>
          </a:xfrm>
          <a:prstGeom prst="rect">
            <a:avLst/>
          </a:prstGeom>
        </p:spPr>
      </p:pic>
      <p:sp>
        <p:nvSpPr>
          <p:cNvPr id="6" name="Text 3"/>
          <p:cNvSpPr/>
          <p:nvPr/>
        </p:nvSpPr>
        <p:spPr>
          <a:xfrm>
            <a:off x="1123950" y="2906961"/>
            <a:ext cx="284726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Q12 survey</a:t>
            </a:r>
            <a:endParaRPr lang="en-US" sz="2200" dirty="0"/>
          </a:p>
        </p:txBody>
      </p:sp>
      <p:sp>
        <p:nvSpPr>
          <p:cNvPr id="7" name="Text 4"/>
          <p:cNvSpPr/>
          <p:nvPr/>
        </p:nvSpPr>
        <p:spPr>
          <a:xfrm>
            <a:off x="1123950" y="3343821"/>
            <a:ext cx="2847264" cy="1463040"/>
          </a:xfrm>
          <a:prstGeom prst="rect">
            <a:avLst/>
          </a:prstGeom>
          <a:noFill/>
          <a:ln/>
        </p:spPr>
        <p:txBody>
          <a:bodyPr wrap="square" lIns="0" tIns="0" rIns="0" bIns="0" rtlCol="0" anchor="t">
            <a:normAutofit/>
          </a:bodyPr>
          <a:lstStyle/>
          <a:p>
            <a:pPr algn="l" indent="0" marL="0">
              <a:lnSpc>
                <a:spcPts val="2240"/>
              </a:lnSpc>
              <a:buNone/>
            </a:pPr>
            <a:r>
              <a:rPr lang="en-US" sz="1800" dirty="0">
                <a:solidFill>
                  <a:srgbClr val="4A5568"/>
                </a:solidFill>
                <a:latin typeface="DM Sans" pitchFamily="34" charset="0"/>
                <a:ea typeface="DM Sans" pitchFamily="34" charset="-122"/>
                <a:cs typeface="DM Sans" pitchFamily="34" charset="-120"/>
              </a:rPr>
              <a:t>12 questions, each scored 1 to 5, for every employee who answers</a:t>
            </a:r>
            <a:endParaRPr lang="en-US" sz="1600" dirty="0"/>
          </a:p>
        </p:txBody>
      </p:sp>
      <p:sp>
        <p:nvSpPr>
          <p:cNvPr id="8" name="Shape 5"/>
          <p:cNvSpPr/>
          <p:nvPr/>
        </p:nvSpPr>
        <p:spPr>
          <a:xfrm>
            <a:off x="4405809" y="2141786"/>
            <a:ext cx="3380333" cy="2971800"/>
          </a:xfrm>
          <a:prstGeom prst="roundRect">
            <a:avLst>
              <a:gd name="adj" fmla="val 3717"/>
            </a:avLst>
          </a:prstGeom>
          <a:solidFill>
            <a:srgbClr val="FDFCF9"/>
          </a:solidFill>
          <a:ln w="6350">
            <a:solidFill>
              <a:srgbClr val="DDD8CC"/>
            </a:solidFill>
            <a:prstDash val="solid"/>
          </a:ln>
        </p:spPr>
      </p:sp>
      <p:pic>
        <p:nvPicPr>
          <p:cNvPr id="9" name="Image 1" descr="Database">    </p:cNvPr>
          <p:cNvPicPr>
            <a:picLocks noChangeAspect="1"/>
          </p:cNvPicPr>
          <p:nvPr/>
        </p:nvPicPr>
        <p:blipFill>
          <a:blip r:embed="rId2"/>
          <a:srcRect l="0" r="0" t="0" b="0"/>
          <a:stretch/>
        </p:blipFill>
        <p:spPr>
          <a:xfrm>
            <a:off x="4713784" y="2449761"/>
            <a:ext cx="355600" cy="355600"/>
          </a:xfrm>
          <a:prstGeom prst="rect">
            <a:avLst/>
          </a:prstGeom>
        </p:spPr>
      </p:pic>
      <p:sp>
        <p:nvSpPr>
          <p:cNvPr id="10" name="Text 6"/>
          <p:cNvSpPr/>
          <p:nvPr/>
        </p:nvSpPr>
        <p:spPr>
          <a:xfrm>
            <a:off x="4713784" y="2906961"/>
            <a:ext cx="284731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HR outcomes</a:t>
            </a:r>
            <a:endParaRPr lang="en-US" sz="2200" dirty="0"/>
          </a:p>
        </p:txBody>
      </p:sp>
      <p:sp>
        <p:nvSpPr>
          <p:cNvPr id="11" name="Text 7"/>
          <p:cNvSpPr/>
          <p:nvPr/>
        </p:nvSpPr>
        <p:spPr>
          <a:xfrm>
            <a:off x="4713784" y="3343821"/>
            <a:ext cx="2847315" cy="1463040"/>
          </a:xfrm>
          <a:prstGeom prst="rect">
            <a:avLst/>
          </a:prstGeom>
          <a:noFill/>
          <a:ln/>
        </p:spPr>
        <p:txBody>
          <a:bodyPr wrap="square" lIns="0" tIns="0" rIns="0" bIns="0" rtlCol="0" anchor="t">
            <a:normAutofit/>
          </a:bodyPr>
          <a:lstStyle/>
          <a:p>
            <a:pPr algn="l" indent="0" marL="0">
              <a:lnSpc>
                <a:spcPts val="2240"/>
              </a:lnSpc>
              <a:buNone/>
            </a:pPr>
            <a:r>
              <a:rPr lang="en-US" sz="1800" dirty="0">
                <a:solidFill>
                  <a:srgbClr val="4A5568"/>
                </a:solidFill>
                <a:latin typeface="DM Sans" pitchFamily="34" charset="0"/>
                <a:ea typeface="DM Sans" pitchFamily="34" charset="-122"/>
                <a:cs typeface="DM Sans" pitchFamily="34" charset="-120"/>
              </a:rPr>
              <a:t>Who left, absence days and performance ratings, for every employee</a:t>
            </a:r>
            <a:endParaRPr lang="en-US" sz="1600" dirty="0"/>
          </a:p>
        </p:txBody>
      </p:sp>
      <p:sp>
        <p:nvSpPr>
          <p:cNvPr id="12" name="Shape 8"/>
          <p:cNvSpPr/>
          <p:nvPr/>
        </p:nvSpPr>
        <p:spPr>
          <a:xfrm>
            <a:off x="7995692" y="2141786"/>
            <a:ext cx="3380333" cy="2971800"/>
          </a:xfrm>
          <a:prstGeom prst="roundRect">
            <a:avLst>
              <a:gd name="adj" fmla="val 3717"/>
            </a:avLst>
          </a:prstGeom>
          <a:solidFill>
            <a:srgbClr val="FDFCF9"/>
          </a:solidFill>
          <a:ln w="6350">
            <a:solidFill>
              <a:srgbClr val="DDD8CC"/>
            </a:solidFill>
            <a:prstDash val="solid"/>
          </a:ln>
        </p:spPr>
      </p:sp>
      <p:pic>
        <p:nvPicPr>
          <p:cNvPr id="13" name="Image 2" descr="Settings">    </p:cNvPr>
          <p:cNvPicPr>
            <a:picLocks noChangeAspect="1"/>
          </p:cNvPicPr>
          <p:nvPr/>
        </p:nvPicPr>
        <p:blipFill>
          <a:blip r:embed="rId3"/>
          <a:srcRect l="0" r="0" t="0" b="0"/>
          <a:stretch/>
        </p:blipFill>
        <p:spPr>
          <a:xfrm>
            <a:off x="8303667" y="2449761"/>
            <a:ext cx="355600" cy="355600"/>
          </a:xfrm>
          <a:prstGeom prst="rect">
            <a:avLst/>
          </a:prstGeom>
        </p:spPr>
      </p:pic>
      <p:sp>
        <p:nvSpPr>
          <p:cNvPr id="14" name="Text 9"/>
          <p:cNvSpPr/>
          <p:nvPr/>
        </p:nvSpPr>
        <p:spPr>
          <a:xfrm>
            <a:off x="8303667" y="2906961"/>
            <a:ext cx="284731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Assumptions</a:t>
            </a:r>
            <a:endParaRPr lang="en-US" sz="2200" dirty="0"/>
          </a:p>
        </p:txBody>
      </p:sp>
      <p:sp>
        <p:nvSpPr>
          <p:cNvPr id="15" name="Text 10"/>
          <p:cNvSpPr/>
          <p:nvPr/>
        </p:nvSpPr>
        <p:spPr>
          <a:xfrm>
            <a:off x="8303667" y="3343821"/>
            <a:ext cx="2847315" cy="1463040"/>
          </a:xfrm>
          <a:prstGeom prst="rect">
            <a:avLst/>
          </a:prstGeom>
          <a:noFill/>
          <a:ln/>
        </p:spPr>
        <p:txBody>
          <a:bodyPr wrap="square" lIns="0" tIns="0" rIns="0" bIns="0" rtlCol="0" anchor="t">
            <a:normAutofit/>
          </a:bodyPr>
          <a:lstStyle/>
          <a:p>
            <a:pPr algn="l" indent="0" marL="0">
              <a:lnSpc>
                <a:spcPts val="2240"/>
              </a:lnSpc>
              <a:buNone/>
            </a:pPr>
            <a:r>
              <a:rPr lang="en-US" sz="1800" dirty="0">
                <a:solidFill>
                  <a:srgbClr val="4A5568"/>
                </a:solidFill>
                <a:latin typeface="DM Sans" pitchFamily="34" charset="0"/>
                <a:ea typeface="DM Sans" pitchFamily="34" charset="-122"/>
                <a:cs typeface="DM Sans" pitchFamily="34" charset="-120"/>
              </a:rPr>
              <a:t>Salary, cost to replace a leaver and cost of an absence day. Placeholders until a client enters its own</a:t>
            </a:r>
            <a:endParaRPr lang="en-US" sz="1600" dirty="0"/>
          </a:p>
        </p:txBody>
      </p:sp>
      <p:sp>
        <p:nvSpPr>
          <p:cNvPr id="16" name="Text 11"/>
          <p:cNvSpPr/>
          <p:nvPr/>
        </p:nvSpPr>
        <p:spPr>
          <a:xfrm>
            <a:off x="812800" y="544068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Leaders can change any assumption, and every dollar figure updates.</a:t>
            </a:r>
            <a:endParaRPr lang="en-US" sz="1600" dirty="0"/>
          </a:p>
        </p:txBody>
      </p:sp>
      <p:sp>
        <p:nvSpPr>
          <p:cNvPr id="17"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E15"/>
                </a:solidFill>
                <a:latin typeface="DM Sans" pitchFamily="34" charset="0"/>
                <a:ea typeface="DM Sans" pitchFamily="34" charset="-122"/>
                <a:cs typeface="DM Sans" pitchFamily="34" charset="-120"/>
              </a:rPr>
              <a:t>Engagia</a:t>
            </a:r>
            <a:r>
              <a:rPr lang="en-US" sz="1200" dirty="0">
                <a:solidFill>
                  <a:srgbClr val="6A7179"/>
                </a:solidFill>
                <a:latin typeface="DM Sans" pitchFamily="34" charset="0"/>
                <a:ea typeface="DM Sans" pitchFamily="34" charset="-122"/>
                <a:cs typeface="DM Sans" pitchFamily="34" charset="-120"/>
              </a:rPr>
              <a:t>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E15"/>
                </a:solidFill>
                <a:latin typeface="DM Sans" pitchFamily="34" charset="0"/>
                <a:ea typeface="DM Sans" pitchFamily="34" charset="-122"/>
                <a:cs typeface="DM Sans" pitchFamily="34" charset="-120"/>
              </a:rPr>
              <a:t>HOW IT WORKS</a:t>
            </a:r>
            <a:endParaRPr lang="en-US" sz="1200" dirty="0"/>
          </a:p>
        </p:txBody>
      </p:sp>
      <p:sp>
        <p:nvSpPr>
          <p:cNvPr id="3" name="Text 1"/>
          <p:cNvSpPr/>
          <p:nvPr>
            <p:ph type="title"/>
          </p:nvPr>
        </p:nvSpPr>
        <p:spPr>
          <a:xfrm>
            <a:off x="812800" y="1330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Four steps from survey to answer</a:t>
            </a:r>
            <a:endParaRPr lang="en-US" sz="3600" dirty="0"/>
          </a:p>
        </p:txBody>
      </p:sp>
      <p:sp>
        <p:nvSpPr>
          <p:cNvPr id="4" name="Shape 2"/>
          <p:cNvSpPr/>
          <p:nvPr/>
        </p:nvSpPr>
        <p:spPr>
          <a:xfrm>
            <a:off x="815975" y="2141786"/>
            <a:ext cx="2520950" cy="2861171"/>
          </a:xfrm>
          <a:prstGeom prst="roundRect">
            <a:avLst>
              <a:gd name="adj" fmla="val 3904"/>
            </a:avLst>
          </a:prstGeom>
          <a:solidFill>
            <a:srgbClr val="FDFCF9"/>
          </a:solidFill>
          <a:ln w="6350">
            <a:solidFill>
              <a:srgbClr val="DDD8CC"/>
            </a:solidFill>
            <a:prstDash val="solid"/>
          </a:ln>
        </p:spPr>
      </p:sp>
      <p:pic>
        <p:nvPicPr>
          <p:cNvPr id="5" name="Image 0" descr="Database">    </p:cNvPr>
          <p:cNvPicPr>
            <a:picLocks noChangeAspect="1"/>
          </p:cNvPicPr>
          <p:nvPr/>
        </p:nvPicPr>
        <p:blipFill>
          <a:blip r:embed="rId1"/>
          <a:srcRect l="0" r="0" t="0" b="0"/>
          <a:stretch/>
        </p:blipFill>
        <p:spPr>
          <a:xfrm>
            <a:off x="1073150" y="2398961"/>
            <a:ext cx="355600" cy="355600"/>
          </a:xfrm>
          <a:prstGeom prst="rect">
            <a:avLst/>
          </a:prstGeom>
        </p:spPr>
      </p:pic>
      <p:sp>
        <p:nvSpPr>
          <p:cNvPr id="6" name="Text 3"/>
          <p:cNvSpPr/>
          <p:nvPr/>
        </p:nvSpPr>
        <p:spPr>
          <a:xfrm>
            <a:off x="1073150" y="2856161"/>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E15"/>
                </a:solidFill>
                <a:latin typeface="DM Sans" pitchFamily="34" charset="0"/>
                <a:ea typeface="DM Sans" pitchFamily="34" charset="-122"/>
                <a:cs typeface="DM Sans" pitchFamily="34" charset="-120"/>
              </a:rPr>
              <a:t>01</a:t>
            </a:r>
            <a:endParaRPr lang="en-US" sz="1200" dirty="0"/>
          </a:p>
        </p:txBody>
      </p:sp>
      <p:sp>
        <p:nvSpPr>
          <p:cNvPr id="7" name="Text 4"/>
          <p:cNvSpPr/>
          <p:nvPr/>
        </p:nvSpPr>
        <p:spPr>
          <a:xfrm>
            <a:off x="1073150" y="3171081"/>
            <a:ext cx="206679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Connect</a:t>
            </a:r>
            <a:endParaRPr lang="en-US" sz="2200" dirty="0"/>
          </a:p>
        </p:txBody>
      </p:sp>
      <p:sp>
        <p:nvSpPr>
          <p:cNvPr id="8" name="Text 5"/>
          <p:cNvSpPr/>
          <p:nvPr/>
        </p:nvSpPr>
        <p:spPr>
          <a:xfrm>
            <a:off x="1073150" y="3607941"/>
            <a:ext cx="2066798"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Q12 answers plus turnover, absence and performance records.</a:t>
            </a:r>
            <a:endParaRPr lang="en-US" sz="1600" dirty="0"/>
          </a:p>
        </p:txBody>
      </p:sp>
      <p:sp>
        <p:nvSpPr>
          <p:cNvPr id="9" name="Shape 6"/>
          <p:cNvSpPr/>
          <p:nvPr/>
        </p:nvSpPr>
        <p:spPr>
          <a:xfrm>
            <a:off x="3495675" y="2141786"/>
            <a:ext cx="2520950" cy="2861171"/>
          </a:xfrm>
          <a:prstGeom prst="roundRect">
            <a:avLst>
              <a:gd name="adj" fmla="val 3904"/>
            </a:avLst>
          </a:prstGeom>
          <a:solidFill>
            <a:srgbClr val="FDFCF9"/>
          </a:solidFill>
          <a:ln w="6350">
            <a:solidFill>
              <a:srgbClr val="DDD8CC"/>
            </a:solidFill>
            <a:prstDash val="solid"/>
          </a:ln>
        </p:spPr>
      </p:sp>
      <p:pic>
        <p:nvPicPr>
          <p:cNvPr id="10" name="Image 1" descr="Search">    </p:cNvPr>
          <p:cNvPicPr>
            <a:picLocks noChangeAspect="1"/>
          </p:cNvPicPr>
          <p:nvPr/>
        </p:nvPicPr>
        <p:blipFill>
          <a:blip r:embed="rId2"/>
          <a:srcRect l="0" r="0" t="0" b="0"/>
          <a:stretch/>
        </p:blipFill>
        <p:spPr>
          <a:xfrm>
            <a:off x="3752850" y="2398961"/>
            <a:ext cx="355600" cy="355600"/>
          </a:xfrm>
          <a:prstGeom prst="rect">
            <a:avLst/>
          </a:prstGeom>
        </p:spPr>
      </p:pic>
      <p:sp>
        <p:nvSpPr>
          <p:cNvPr id="11" name="Text 7"/>
          <p:cNvSpPr/>
          <p:nvPr/>
        </p:nvSpPr>
        <p:spPr>
          <a:xfrm>
            <a:off x="3752850" y="2856161"/>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E15"/>
                </a:solidFill>
                <a:latin typeface="DM Sans" pitchFamily="34" charset="0"/>
                <a:ea typeface="DM Sans" pitchFamily="34" charset="-122"/>
                <a:cs typeface="DM Sans" pitchFamily="34" charset="-120"/>
              </a:rPr>
              <a:t>02</a:t>
            </a:r>
            <a:endParaRPr lang="en-US" sz="1200" dirty="0"/>
          </a:p>
        </p:txBody>
      </p:sp>
      <p:sp>
        <p:nvSpPr>
          <p:cNvPr id="12" name="Text 8"/>
          <p:cNvSpPr/>
          <p:nvPr/>
        </p:nvSpPr>
        <p:spPr>
          <a:xfrm>
            <a:off x="3752850" y="3171081"/>
            <a:ext cx="206679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Check</a:t>
            </a:r>
            <a:endParaRPr lang="en-US" sz="2200" dirty="0"/>
          </a:p>
        </p:txBody>
      </p:sp>
      <p:sp>
        <p:nvSpPr>
          <p:cNvPr id="13" name="Text 9"/>
          <p:cNvSpPr/>
          <p:nvPr/>
        </p:nvSpPr>
        <p:spPr>
          <a:xfrm>
            <a:off x="3752850" y="3607941"/>
            <a:ext cx="206679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Flags survey bias, small teams and data gaps first.</a:t>
            </a:r>
            <a:endParaRPr lang="en-US" sz="1600" dirty="0"/>
          </a:p>
        </p:txBody>
      </p:sp>
      <p:sp>
        <p:nvSpPr>
          <p:cNvPr id="14" name="Shape 10"/>
          <p:cNvSpPr/>
          <p:nvPr/>
        </p:nvSpPr>
        <p:spPr>
          <a:xfrm>
            <a:off x="6175375" y="2141786"/>
            <a:ext cx="2520950" cy="2861171"/>
          </a:xfrm>
          <a:prstGeom prst="roundRect">
            <a:avLst>
              <a:gd name="adj" fmla="val 3904"/>
            </a:avLst>
          </a:prstGeom>
          <a:solidFill>
            <a:srgbClr val="FDFCF9"/>
          </a:solidFill>
          <a:ln w="6350">
            <a:solidFill>
              <a:srgbClr val="DDD8CC"/>
            </a:solidFill>
            <a:prstDash val="solid"/>
          </a:ln>
        </p:spPr>
      </p:sp>
      <p:pic>
        <p:nvPicPr>
          <p:cNvPr id="15" name="Image 2" descr="Chart">    </p:cNvPr>
          <p:cNvPicPr>
            <a:picLocks noChangeAspect="1"/>
          </p:cNvPicPr>
          <p:nvPr/>
        </p:nvPicPr>
        <p:blipFill>
          <a:blip r:embed="rId3"/>
          <a:srcRect l="0" r="0" t="0" b="0"/>
          <a:stretch/>
        </p:blipFill>
        <p:spPr>
          <a:xfrm>
            <a:off x="6432550" y="2398961"/>
            <a:ext cx="355600" cy="355600"/>
          </a:xfrm>
          <a:prstGeom prst="rect">
            <a:avLst/>
          </a:prstGeom>
        </p:spPr>
      </p:pic>
      <p:sp>
        <p:nvSpPr>
          <p:cNvPr id="16" name="Text 11"/>
          <p:cNvSpPr/>
          <p:nvPr/>
        </p:nvSpPr>
        <p:spPr>
          <a:xfrm>
            <a:off x="6432550" y="2856161"/>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E15"/>
                </a:solidFill>
                <a:latin typeface="DM Sans" pitchFamily="34" charset="0"/>
                <a:ea typeface="DM Sans" pitchFamily="34" charset="-122"/>
                <a:cs typeface="DM Sans" pitchFamily="34" charset="-120"/>
              </a:rPr>
              <a:t>03</a:t>
            </a:r>
            <a:endParaRPr lang="en-US" sz="1200" dirty="0"/>
          </a:p>
        </p:txBody>
      </p:sp>
      <p:sp>
        <p:nvSpPr>
          <p:cNvPr id="17" name="Text 12"/>
          <p:cNvSpPr/>
          <p:nvPr/>
        </p:nvSpPr>
        <p:spPr>
          <a:xfrm>
            <a:off x="6432550" y="3171081"/>
            <a:ext cx="206679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Simulate</a:t>
            </a:r>
            <a:endParaRPr lang="en-US" sz="2200" dirty="0"/>
          </a:p>
        </p:txBody>
      </p:sp>
      <p:sp>
        <p:nvSpPr>
          <p:cNvPr id="18" name="Text 13"/>
          <p:cNvSpPr/>
          <p:nvPr/>
        </p:nvSpPr>
        <p:spPr>
          <a:xfrm>
            <a:off x="6432550" y="3607941"/>
            <a:ext cx="206679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Models a 1-point lift, person by person, with a 95% range.</a:t>
            </a:r>
            <a:endParaRPr lang="en-US" sz="1600" dirty="0"/>
          </a:p>
        </p:txBody>
      </p:sp>
      <p:sp>
        <p:nvSpPr>
          <p:cNvPr id="19" name="Shape 14"/>
          <p:cNvSpPr/>
          <p:nvPr/>
        </p:nvSpPr>
        <p:spPr>
          <a:xfrm>
            <a:off x="8855075" y="2141786"/>
            <a:ext cx="2520950" cy="2861171"/>
          </a:xfrm>
          <a:prstGeom prst="roundRect">
            <a:avLst>
              <a:gd name="adj" fmla="val 3904"/>
            </a:avLst>
          </a:prstGeom>
          <a:solidFill>
            <a:srgbClr val="FDFCF9"/>
          </a:solidFill>
          <a:ln w="6350">
            <a:solidFill>
              <a:srgbClr val="DDD8CC"/>
            </a:solidFill>
            <a:prstDash val="solid"/>
          </a:ln>
        </p:spPr>
      </p:sp>
      <p:pic>
        <p:nvPicPr>
          <p:cNvPr id="20" name="Image 3" descr="Chat">    </p:cNvPr>
          <p:cNvPicPr>
            <a:picLocks noChangeAspect="1"/>
          </p:cNvPicPr>
          <p:nvPr/>
        </p:nvPicPr>
        <p:blipFill>
          <a:blip r:embed="rId4"/>
          <a:srcRect l="0" r="0" t="0" b="0"/>
          <a:stretch/>
        </p:blipFill>
        <p:spPr>
          <a:xfrm>
            <a:off x="9112250" y="2398961"/>
            <a:ext cx="355600" cy="355600"/>
          </a:xfrm>
          <a:prstGeom prst="rect">
            <a:avLst/>
          </a:prstGeom>
        </p:spPr>
      </p:pic>
      <p:sp>
        <p:nvSpPr>
          <p:cNvPr id="21" name="Text 15"/>
          <p:cNvSpPr/>
          <p:nvPr/>
        </p:nvSpPr>
        <p:spPr>
          <a:xfrm>
            <a:off x="9112250" y="2856161"/>
            <a:ext cx="20667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E15"/>
                </a:solidFill>
                <a:latin typeface="DM Sans" pitchFamily="34" charset="0"/>
                <a:ea typeface="DM Sans" pitchFamily="34" charset="-122"/>
                <a:cs typeface="DM Sans" pitchFamily="34" charset="-120"/>
              </a:rPr>
              <a:t>04</a:t>
            </a:r>
            <a:endParaRPr lang="en-US" sz="1200" dirty="0"/>
          </a:p>
        </p:txBody>
      </p:sp>
      <p:sp>
        <p:nvSpPr>
          <p:cNvPr id="22" name="Text 16"/>
          <p:cNvSpPr/>
          <p:nvPr/>
        </p:nvSpPr>
        <p:spPr>
          <a:xfrm>
            <a:off x="9112250" y="3171081"/>
            <a:ext cx="2066798"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Explain</a:t>
            </a:r>
            <a:endParaRPr lang="en-US" sz="2200" dirty="0"/>
          </a:p>
        </p:txBody>
      </p:sp>
      <p:sp>
        <p:nvSpPr>
          <p:cNvPr id="23" name="Text 17"/>
          <p:cNvSpPr/>
          <p:nvPr/>
        </p:nvSpPr>
        <p:spPr>
          <a:xfrm>
            <a:off x="9112250" y="3607941"/>
            <a:ext cx="206679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A CEO brief, report pack and Ask AI, in plain language.</a:t>
            </a:r>
            <a:endParaRPr lang="en-US" sz="1600" dirty="0"/>
          </a:p>
        </p:txBody>
      </p:sp>
      <p:sp>
        <p:nvSpPr>
          <p:cNvPr id="24" name="Text 18"/>
          <p:cNvSpPr/>
          <p:nvPr/>
        </p:nvSpPr>
        <p:spPr>
          <a:xfrm>
            <a:off x="812800" y="531093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Built and tested on a 1,000,000-employee dataset and a 5,000-employee one.</a:t>
            </a:r>
            <a:endParaRPr lang="en-US" sz="1600" dirty="0"/>
          </a:p>
        </p:txBody>
      </p:sp>
      <p:sp>
        <p:nvSpPr>
          <p:cNvPr id="25"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E15"/>
                </a:solidFill>
                <a:latin typeface="DM Sans" pitchFamily="34" charset="0"/>
                <a:ea typeface="DM Sans" pitchFamily="34" charset="-122"/>
                <a:cs typeface="DM Sans" pitchFamily="34" charset="-120"/>
              </a:rPr>
              <a:t>Engagia</a:t>
            </a:r>
            <a:r>
              <a:rPr lang="en-US" sz="1200" dirty="0">
                <a:solidFill>
                  <a:srgbClr val="6A7179"/>
                </a:solidFill>
                <a:latin typeface="DM Sans" pitchFamily="34" charset="0"/>
                <a:ea typeface="DM Sans" pitchFamily="34" charset="-122"/>
                <a:cs typeface="DM Sans" pitchFamily="34" charset="-120"/>
              </a:rPr>
              <a:t>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E15"/>
                </a:solidFill>
                <a:latin typeface="DM Sans" pitchFamily="34" charset="0"/>
                <a:ea typeface="DM Sans" pitchFamily="34" charset="-122"/>
                <a:cs typeface="DM Sans" pitchFamily="34" charset="-120"/>
              </a:rPr>
              <a:t>WHAT COMES OUT</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Answers leaders can act on</a:t>
            </a:r>
            <a:endParaRPr lang="en-US" sz="3600" dirty="0"/>
          </a:p>
        </p:txBody>
      </p:sp>
      <p:sp>
        <p:nvSpPr>
          <p:cNvPr id="4" name="Shape 2"/>
          <p:cNvSpPr/>
          <p:nvPr/>
        </p:nvSpPr>
        <p:spPr>
          <a:xfrm>
            <a:off x="815975" y="2040186"/>
            <a:ext cx="3380284" cy="1403300"/>
          </a:xfrm>
          <a:prstGeom prst="roundRect">
            <a:avLst>
              <a:gd name="adj" fmla="val 7014"/>
            </a:avLst>
          </a:prstGeom>
          <a:solidFill>
            <a:srgbClr val="FDFCF9"/>
          </a:solidFill>
          <a:ln w="6350">
            <a:solidFill>
              <a:srgbClr val="DDD8CC"/>
            </a:solidFill>
            <a:prstDash val="solid"/>
          </a:ln>
        </p:spPr>
      </p:sp>
      <p:sp>
        <p:nvSpPr>
          <p:cNvPr id="5" name="Text 3"/>
          <p:cNvSpPr/>
          <p:nvPr/>
        </p:nvSpPr>
        <p:spPr>
          <a:xfrm>
            <a:off x="1073150" y="2297361"/>
            <a:ext cx="2951912" cy="269230"/>
          </a:xfrm>
          <a:prstGeom prst="rect">
            <a:avLst/>
          </a:prstGeom>
          <a:noFill/>
          <a:ln/>
        </p:spPr>
        <p:txBody>
          <a:bodyPr wrap="square" lIns="0" tIns="0" rIns="0" bIns="0" rtlCol="0" anchor="t">
            <a:normAutofit/>
          </a:bodyPr>
          <a:lstStyle/>
          <a:p>
            <a:pPr algn="l" indent="0" marL="0">
              <a:lnSpc>
                <a:spcPts val="1920"/>
              </a:lnSpc>
              <a:buNone/>
            </a:pPr>
            <a:r>
              <a:rPr lang="en-US" sz="1800" b="1" dirty="0">
                <a:solidFill>
                  <a:srgbClr val="B84E15"/>
                </a:solidFill>
                <a:latin typeface="DM Sans" pitchFamily="34" charset="0"/>
                <a:ea typeface="DM Sans" pitchFamily="34" charset="-122"/>
                <a:cs typeface="DM Sans" pitchFamily="34" charset="-120"/>
              </a:rPr>
              <a:t>Cost today</a:t>
            </a:r>
            <a:endParaRPr lang="en-US" sz="1600" dirty="0"/>
          </a:p>
        </p:txBody>
      </p:sp>
      <p:sp>
        <p:nvSpPr>
          <p:cNvPr id="6" name="Text 4"/>
          <p:cNvSpPr/>
          <p:nvPr/>
        </p:nvSpPr>
        <p:spPr>
          <a:xfrm>
            <a:off x="1073150" y="2617391"/>
            <a:ext cx="295191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Turnover and absence cost, all employees</a:t>
            </a:r>
            <a:endParaRPr lang="en-US" sz="1600" dirty="0"/>
          </a:p>
        </p:txBody>
      </p:sp>
      <p:sp>
        <p:nvSpPr>
          <p:cNvPr id="7" name="Shape 5"/>
          <p:cNvSpPr/>
          <p:nvPr/>
        </p:nvSpPr>
        <p:spPr>
          <a:xfrm>
            <a:off x="4405809" y="2040186"/>
            <a:ext cx="3380333" cy="1403300"/>
          </a:xfrm>
          <a:prstGeom prst="roundRect">
            <a:avLst>
              <a:gd name="adj" fmla="val 7014"/>
            </a:avLst>
          </a:prstGeom>
          <a:solidFill>
            <a:srgbClr val="FDFCF9"/>
          </a:solidFill>
          <a:ln w="6350">
            <a:solidFill>
              <a:srgbClr val="DDD8CC"/>
            </a:solidFill>
            <a:prstDash val="solid"/>
          </a:ln>
        </p:spPr>
      </p:sp>
      <p:sp>
        <p:nvSpPr>
          <p:cNvPr id="8" name="Text 6"/>
          <p:cNvSpPr/>
          <p:nvPr/>
        </p:nvSpPr>
        <p:spPr>
          <a:xfrm>
            <a:off x="4662984" y="2297361"/>
            <a:ext cx="2951963" cy="269230"/>
          </a:xfrm>
          <a:prstGeom prst="rect">
            <a:avLst/>
          </a:prstGeom>
          <a:noFill/>
          <a:ln/>
        </p:spPr>
        <p:txBody>
          <a:bodyPr wrap="square" lIns="0" tIns="0" rIns="0" bIns="0" rtlCol="0" anchor="t">
            <a:normAutofit/>
          </a:bodyPr>
          <a:lstStyle/>
          <a:p>
            <a:pPr algn="l" indent="0" marL="0">
              <a:lnSpc>
                <a:spcPts val="1920"/>
              </a:lnSpc>
              <a:buNone/>
            </a:pPr>
            <a:r>
              <a:rPr lang="en-US" sz="1800" b="1" dirty="0">
                <a:solidFill>
                  <a:srgbClr val="B84E15"/>
                </a:solidFill>
                <a:latin typeface="DM Sans" pitchFamily="34" charset="0"/>
                <a:ea typeface="DM Sans" pitchFamily="34" charset="-122"/>
                <a:cs typeface="DM Sans" pitchFamily="34" charset="-120"/>
              </a:rPr>
              <a:t>What-if</a:t>
            </a:r>
            <a:endParaRPr lang="en-US" sz="1600" dirty="0"/>
          </a:p>
        </p:txBody>
      </p:sp>
      <p:sp>
        <p:nvSpPr>
          <p:cNvPr id="9" name="Text 7"/>
          <p:cNvSpPr/>
          <p:nvPr/>
        </p:nvSpPr>
        <p:spPr>
          <a:xfrm>
            <a:off x="4662984" y="2617391"/>
            <a:ext cx="295196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Modeled value of a 1-point lift, with a 95% range</a:t>
            </a:r>
            <a:endParaRPr lang="en-US" sz="1600" dirty="0"/>
          </a:p>
        </p:txBody>
      </p:sp>
      <p:sp>
        <p:nvSpPr>
          <p:cNvPr id="10" name="Shape 8"/>
          <p:cNvSpPr/>
          <p:nvPr/>
        </p:nvSpPr>
        <p:spPr>
          <a:xfrm>
            <a:off x="7995692" y="2040186"/>
            <a:ext cx="3380284" cy="1403300"/>
          </a:xfrm>
          <a:prstGeom prst="roundRect">
            <a:avLst>
              <a:gd name="adj" fmla="val 7014"/>
            </a:avLst>
          </a:prstGeom>
          <a:solidFill>
            <a:srgbClr val="FDFCF9"/>
          </a:solidFill>
          <a:ln w="6350">
            <a:solidFill>
              <a:srgbClr val="DDD8CC"/>
            </a:solidFill>
            <a:prstDash val="solid"/>
          </a:ln>
        </p:spPr>
      </p:sp>
      <p:sp>
        <p:nvSpPr>
          <p:cNvPr id="11" name="Text 9"/>
          <p:cNvSpPr/>
          <p:nvPr/>
        </p:nvSpPr>
        <p:spPr>
          <a:xfrm>
            <a:off x="8252867" y="2297361"/>
            <a:ext cx="2951912" cy="269230"/>
          </a:xfrm>
          <a:prstGeom prst="rect">
            <a:avLst/>
          </a:prstGeom>
          <a:noFill/>
          <a:ln/>
        </p:spPr>
        <p:txBody>
          <a:bodyPr wrap="square" lIns="0" tIns="0" rIns="0" bIns="0" rtlCol="0" anchor="t">
            <a:normAutofit/>
          </a:bodyPr>
          <a:lstStyle/>
          <a:p>
            <a:pPr algn="l" indent="0" marL="0">
              <a:lnSpc>
                <a:spcPts val="1920"/>
              </a:lnSpc>
              <a:buNone/>
            </a:pPr>
            <a:r>
              <a:rPr lang="en-US" sz="1800" b="1" dirty="0">
                <a:solidFill>
                  <a:srgbClr val="B84E15"/>
                </a:solidFill>
                <a:latin typeface="DM Sans" pitchFamily="34" charset="0"/>
                <a:ea typeface="DM Sans" pitchFamily="34" charset="-122"/>
                <a:cs typeface="DM Sans" pitchFamily="34" charset="-120"/>
              </a:rPr>
              <a:t>Top questions</a:t>
            </a:r>
            <a:endParaRPr lang="en-US" sz="1600" dirty="0"/>
          </a:p>
        </p:txBody>
      </p:sp>
      <p:sp>
        <p:nvSpPr>
          <p:cNvPr id="12" name="Text 10"/>
          <p:cNvSpPr/>
          <p:nvPr/>
        </p:nvSpPr>
        <p:spPr>
          <a:xfrm>
            <a:off x="8252867" y="2617391"/>
            <a:ext cx="295191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Q12 items ranked by link to outcomes</a:t>
            </a:r>
            <a:endParaRPr lang="en-US" sz="1600" dirty="0"/>
          </a:p>
        </p:txBody>
      </p:sp>
      <p:sp>
        <p:nvSpPr>
          <p:cNvPr id="13" name="Shape 11"/>
          <p:cNvSpPr/>
          <p:nvPr/>
        </p:nvSpPr>
        <p:spPr>
          <a:xfrm>
            <a:off x="815975" y="3653036"/>
            <a:ext cx="3380284" cy="1403300"/>
          </a:xfrm>
          <a:prstGeom prst="roundRect">
            <a:avLst>
              <a:gd name="adj" fmla="val 7014"/>
            </a:avLst>
          </a:prstGeom>
          <a:solidFill>
            <a:srgbClr val="FDFCF9"/>
          </a:solidFill>
          <a:ln w="6350">
            <a:solidFill>
              <a:srgbClr val="DDD8CC"/>
            </a:solidFill>
            <a:prstDash val="solid"/>
          </a:ln>
        </p:spPr>
      </p:sp>
      <p:sp>
        <p:nvSpPr>
          <p:cNvPr id="14" name="Text 12"/>
          <p:cNvSpPr/>
          <p:nvPr/>
        </p:nvSpPr>
        <p:spPr>
          <a:xfrm>
            <a:off x="1073150" y="3910211"/>
            <a:ext cx="2951912" cy="269230"/>
          </a:xfrm>
          <a:prstGeom prst="rect">
            <a:avLst/>
          </a:prstGeom>
          <a:noFill/>
          <a:ln/>
        </p:spPr>
        <p:txBody>
          <a:bodyPr wrap="square" lIns="0" tIns="0" rIns="0" bIns="0" rtlCol="0" anchor="t">
            <a:normAutofit/>
          </a:bodyPr>
          <a:lstStyle/>
          <a:p>
            <a:pPr algn="l" indent="0" marL="0">
              <a:lnSpc>
                <a:spcPts val="1920"/>
              </a:lnSpc>
              <a:buNone/>
            </a:pPr>
            <a:r>
              <a:rPr lang="en-US" sz="1800" b="1" dirty="0">
                <a:solidFill>
                  <a:srgbClr val="B84E15"/>
                </a:solidFill>
                <a:latin typeface="DM Sans" pitchFamily="34" charset="0"/>
                <a:ea typeface="DM Sans" pitchFamily="34" charset="-122"/>
                <a:cs typeface="DM Sans" pitchFamily="34" charset="-120"/>
              </a:rPr>
              <a:t>Where to act</a:t>
            </a:r>
            <a:endParaRPr lang="en-US" sz="1600" dirty="0"/>
          </a:p>
        </p:txBody>
      </p:sp>
      <p:sp>
        <p:nvSpPr>
          <p:cNvPr id="15" name="Text 13"/>
          <p:cNvSpPr/>
          <p:nvPr/>
        </p:nvSpPr>
        <p:spPr>
          <a:xfrm>
            <a:off x="1073150" y="4230241"/>
            <a:ext cx="295191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Departments first; teams only when their costs persist</a:t>
            </a:r>
            <a:endParaRPr lang="en-US" sz="1600" dirty="0"/>
          </a:p>
        </p:txBody>
      </p:sp>
      <p:sp>
        <p:nvSpPr>
          <p:cNvPr id="16" name="Shape 14"/>
          <p:cNvSpPr/>
          <p:nvPr/>
        </p:nvSpPr>
        <p:spPr>
          <a:xfrm>
            <a:off x="4405809" y="3653036"/>
            <a:ext cx="3380333" cy="1403300"/>
          </a:xfrm>
          <a:prstGeom prst="roundRect">
            <a:avLst>
              <a:gd name="adj" fmla="val 7014"/>
            </a:avLst>
          </a:prstGeom>
          <a:solidFill>
            <a:srgbClr val="FDFCF9"/>
          </a:solidFill>
          <a:ln w="6350">
            <a:solidFill>
              <a:srgbClr val="DDD8CC"/>
            </a:solidFill>
            <a:prstDash val="solid"/>
          </a:ln>
        </p:spPr>
      </p:sp>
      <p:sp>
        <p:nvSpPr>
          <p:cNvPr id="17" name="Text 15"/>
          <p:cNvSpPr/>
          <p:nvPr/>
        </p:nvSpPr>
        <p:spPr>
          <a:xfrm>
            <a:off x="4662984" y="3910211"/>
            <a:ext cx="2951963" cy="269230"/>
          </a:xfrm>
          <a:prstGeom prst="rect">
            <a:avLst/>
          </a:prstGeom>
          <a:noFill/>
          <a:ln/>
        </p:spPr>
        <p:txBody>
          <a:bodyPr wrap="square" lIns="0" tIns="0" rIns="0" bIns="0" rtlCol="0" anchor="t">
            <a:normAutofit/>
          </a:bodyPr>
          <a:lstStyle/>
          <a:p>
            <a:pPr algn="l" indent="0" marL="0">
              <a:lnSpc>
                <a:spcPts val="1920"/>
              </a:lnSpc>
              <a:buNone/>
            </a:pPr>
            <a:r>
              <a:rPr lang="en-US" sz="1800" b="1" dirty="0">
                <a:solidFill>
                  <a:srgbClr val="B84E15"/>
                </a:solidFill>
                <a:latin typeface="DM Sans" pitchFamily="34" charset="0"/>
                <a:ea typeface="DM Sans" pitchFamily="34" charset="-122"/>
                <a:cs typeface="DM Sans" pitchFamily="34" charset="-120"/>
              </a:rPr>
              <a:t>CEO brief</a:t>
            </a:r>
            <a:endParaRPr lang="en-US" sz="1600" dirty="0"/>
          </a:p>
        </p:txBody>
      </p:sp>
      <p:sp>
        <p:nvSpPr>
          <p:cNvPr id="18" name="Text 16"/>
          <p:cNvSpPr/>
          <p:nvPr/>
        </p:nvSpPr>
        <p:spPr>
          <a:xfrm>
            <a:off x="4662984" y="4230241"/>
            <a:ext cx="2951963"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Board-ready summary and report pack</a:t>
            </a:r>
            <a:endParaRPr lang="en-US" sz="1600" dirty="0"/>
          </a:p>
        </p:txBody>
      </p:sp>
      <p:sp>
        <p:nvSpPr>
          <p:cNvPr id="19" name="Shape 17"/>
          <p:cNvSpPr/>
          <p:nvPr/>
        </p:nvSpPr>
        <p:spPr>
          <a:xfrm>
            <a:off x="7995692" y="3653036"/>
            <a:ext cx="3380284" cy="1403300"/>
          </a:xfrm>
          <a:prstGeom prst="roundRect">
            <a:avLst>
              <a:gd name="adj" fmla="val 7014"/>
            </a:avLst>
          </a:prstGeom>
          <a:solidFill>
            <a:srgbClr val="FDFCF9"/>
          </a:solidFill>
          <a:ln w="6350">
            <a:solidFill>
              <a:srgbClr val="DDD8CC"/>
            </a:solidFill>
            <a:prstDash val="solid"/>
          </a:ln>
        </p:spPr>
      </p:sp>
      <p:sp>
        <p:nvSpPr>
          <p:cNvPr id="20" name="Text 18"/>
          <p:cNvSpPr/>
          <p:nvPr/>
        </p:nvSpPr>
        <p:spPr>
          <a:xfrm>
            <a:off x="8252867" y="3910211"/>
            <a:ext cx="2951912" cy="269230"/>
          </a:xfrm>
          <a:prstGeom prst="rect">
            <a:avLst/>
          </a:prstGeom>
          <a:noFill/>
          <a:ln/>
        </p:spPr>
        <p:txBody>
          <a:bodyPr wrap="square" lIns="0" tIns="0" rIns="0" bIns="0" rtlCol="0" anchor="t">
            <a:normAutofit/>
          </a:bodyPr>
          <a:lstStyle/>
          <a:p>
            <a:pPr algn="l" indent="0" marL="0">
              <a:lnSpc>
                <a:spcPts val="1920"/>
              </a:lnSpc>
              <a:buNone/>
            </a:pPr>
            <a:r>
              <a:rPr lang="en-US" sz="1800" b="1" dirty="0">
                <a:solidFill>
                  <a:srgbClr val="B84E15"/>
                </a:solidFill>
                <a:latin typeface="DM Sans" pitchFamily="34" charset="0"/>
                <a:ea typeface="DM Sans" pitchFamily="34" charset="-122"/>
                <a:cs typeface="DM Sans" pitchFamily="34" charset="-120"/>
              </a:rPr>
              <a:t>Ask AI</a:t>
            </a:r>
            <a:endParaRPr lang="en-US" sz="1600" dirty="0"/>
          </a:p>
        </p:txBody>
      </p:sp>
      <p:sp>
        <p:nvSpPr>
          <p:cNvPr id="21" name="Text 19"/>
          <p:cNvSpPr/>
          <p:nvPr/>
        </p:nvSpPr>
        <p:spPr>
          <a:xfrm>
            <a:off x="8252867" y="4230241"/>
            <a:ext cx="295191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Plain-English answers from the same numbers</a:t>
            </a:r>
            <a:endParaRPr lang="en-US" sz="16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E15"/>
                </a:solidFill>
                <a:latin typeface="DM Sans" pitchFamily="34" charset="0"/>
                <a:ea typeface="DM Sans" pitchFamily="34" charset="-122"/>
                <a:cs typeface="DM Sans" pitchFamily="34" charset="-120"/>
              </a:rPr>
              <a:t>Engagia</a:t>
            </a:r>
            <a:r>
              <a:rPr lang="en-US" sz="1200" dirty="0">
                <a:solidFill>
                  <a:srgbClr val="6A7179"/>
                </a:solidFill>
                <a:latin typeface="DM Sans" pitchFamily="34" charset="0"/>
                <a:ea typeface="DM Sans" pitchFamily="34" charset="-122"/>
                <a:cs typeface="DM Sans" pitchFamily="34" charset="-120"/>
              </a:rPr>
              <a:t>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61"/>
                </a:solidFill>
                <a:latin typeface="DM Sans" pitchFamily="34" charset="0"/>
                <a:ea typeface="DM Sans" pitchFamily="34" charset="-122"/>
                <a:cs typeface="DM Sans" pitchFamily="34" charset="-120"/>
              </a:rPr>
              <a:t>PROOF ON TEST DATA</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5F0"/>
                </a:solidFill>
                <a:latin typeface="Space Grotesk" pitchFamily="34" charset="0"/>
                <a:ea typeface="Space Grotesk" pitchFamily="34" charset="-122"/>
                <a:cs typeface="Space Grotesk" pitchFamily="34" charset="-120"/>
              </a:rPr>
              <a:t>Proven on 5,000 employees, scaled to 1 million</a:t>
            </a:r>
            <a:endParaRPr lang="en-US" sz="3600" dirty="0"/>
          </a:p>
        </p:txBody>
      </p:sp>
      <p:sp>
        <p:nvSpPr>
          <p:cNvPr id="4" name="Shape 2"/>
          <p:cNvSpPr/>
          <p:nvPr/>
        </p:nvSpPr>
        <p:spPr>
          <a:xfrm>
            <a:off x="812800" y="2037011"/>
            <a:ext cx="3386634" cy="2235101"/>
          </a:xfrm>
          <a:prstGeom prst="roundRect">
            <a:avLst>
              <a:gd name="adj" fmla="val 4546"/>
            </a:avLst>
          </a:prstGeom>
          <a:solidFill>
            <a:srgbClr val="1D2E52"/>
          </a:solidFill>
          <a:ln/>
        </p:spPr>
      </p:sp>
      <p:sp>
        <p:nvSpPr>
          <p:cNvPr id="5" name="Text 3"/>
          <p:cNvSpPr/>
          <p:nvPr/>
        </p:nvSpPr>
        <p:spPr>
          <a:xfrm>
            <a:off x="1117600" y="2341811"/>
            <a:ext cx="2860345"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4A261"/>
                </a:solidFill>
                <a:latin typeface="Space Grotesk" pitchFamily="34" charset="0"/>
                <a:ea typeface="Space Grotesk" pitchFamily="34" charset="-122"/>
                <a:cs typeface="Space Grotesk" pitchFamily="34" charset="-120"/>
              </a:rPr>
              <a:t>$35.1M</a:t>
            </a:r>
            <a:endParaRPr lang="en-US" sz="4800" dirty="0"/>
          </a:p>
        </p:txBody>
      </p:sp>
      <p:sp>
        <p:nvSpPr>
          <p:cNvPr id="6" name="Text 4"/>
          <p:cNvSpPr/>
          <p:nvPr/>
        </p:nvSpPr>
        <p:spPr>
          <a:xfrm>
            <a:off x="1117600" y="3113931"/>
            <a:ext cx="2860345" cy="10972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2E3"/>
                </a:solidFill>
                <a:latin typeface="DM Sans" pitchFamily="34" charset="0"/>
                <a:ea typeface="DM Sans" pitchFamily="34" charset="-122"/>
                <a:cs typeface="DM Sans" pitchFamily="34" charset="-120"/>
              </a:rPr>
              <a:t>a year in turnover and absence costs at the 5,000-employee test company, counting every employee</a:t>
            </a:r>
            <a:endParaRPr lang="en-US" sz="1600" dirty="0"/>
          </a:p>
        </p:txBody>
      </p:sp>
      <p:sp>
        <p:nvSpPr>
          <p:cNvPr id="7" name="Shape 5"/>
          <p:cNvSpPr/>
          <p:nvPr/>
        </p:nvSpPr>
        <p:spPr>
          <a:xfrm>
            <a:off x="4402634" y="2037011"/>
            <a:ext cx="3386683" cy="2235101"/>
          </a:xfrm>
          <a:prstGeom prst="roundRect">
            <a:avLst>
              <a:gd name="adj" fmla="val 4546"/>
            </a:avLst>
          </a:prstGeom>
          <a:solidFill>
            <a:srgbClr val="1D2E52"/>
          </a:solidFill>
          <a:ln/>
        </p:spPr>
      </p:sp>
      <p:sp>
        <p:nvSpPr>
          <p:cNvPr id="8" name="Text 6"/>
          <p:cNvSpPr/>
          <p:nvPr/>
        </p:nvSpPr>
        <p:spPr>
          <a:xfrm>
            <a:off x="4707434" y="2341811"/>
            <a:ext cx="2860396"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4A261"/>
                </a:solidFill>
                <a:latin typeface="Space Grotesk" pitchFamily="34" charset="0"/>
                <a:ea typeface="Space Grotesk" pitchFamily="34" charset="-122"/>
                <a:cs typeface="Space Grotesk" pitchFamily="34" charset="-120"/>
              </a:rPr>
              <a:t>$3.8M</a:t>
            </a:r>
            <a:endParaRPr lang="en-US" sz="4800" dirty="0"/>
          </a:p>
        </p:txBody>
      </p:sp>
      <p:sp>
        <p:nvSpPr>
          <p:cNvPr id="9" name="Text 7"/>
          <p:cNvSpPr/>
          <p:nvPr/>
        </p:nvSpPr>
        <p:spPr>
          <a:xfrm>
            <a:off x="4707434" y="3113931"/>
            <a:ext cx="2860396" cy="10972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2E3"/>
                </a:solidFill>
                <a:latin typeface="DM Sans" pitchFamily="34" charset="0"/>
                <a:ea typeface="DM Sans" pitchFamily="34" charset="-122"/>
                <a:cs typeface="DM Sans" pitchFamily="34" charset="-120"/>
              </a:rPr>
              <a:t>a year linked to a 1-point lift in low Recognition scores (likely $2.9M to $4.7M)</a:t>
            </a:r>
            <a:endParaRPr lang="en-US" sz="1600" dirty="0"/>
          </a:p>
        </p:txBody>
      </p:sp>
      <p:sp>
        <p:nvSpPr>
          <p:cNvPr id="10" name="Shape 8"/>
          <p:cNvSpPr/>
          <p:nvPr/>
        </p:nvSpPr>
        <p:spPr>
          <a:xfrm>
            <a:off x="7992517" y="2037011"/>
            <a:ext cx="3386683" cy="2235101"/>
          </a:xfrm>
          <a:prstGeom prst="roundRect">
            <a:avLst>
              <a:gd name="adj" fmla="val 4546"/>
            </a:avLst>
          </a:prstGeom>
          <a:solidFill>
            <a:srgbClr val="1D2E52"/>
          </a:solidFill>
          <a:ln/>
        </p:spPr>
      </p:sp>
      <p:sp>
        <p:nvSpPr>
          <p:cNvPr id="11" name="Text 9"/>
          <p:cNvSpPr/>
          <p:nvPr/>
        </p:nvSpPr>
        <p:spPr>
          <a:xfrm>
            <a:off x="8297317" y="2341811"/>
            <a:ext cx="2860396"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4A261"/>
                </a:solidFill>
                <a:latin typeface="Space Grotesk" pitchFamily="34" charset="0"/>
                <a:ea typeface="Space Grotesk" pitchFamily="34" charset="-122"/>
                <a:cs typeface="Space Grotesk" pitchFamily="34" charset="-120"/>
              </a:rPr>
              <a:t>1M</a:t>
            </a:r>
            <a:endParaRPr lang="en-US" sz="4800" dirty="0"/>
          </a:p>
        </p:txBody>
      </p:sp>
      <p:sp>
        <p:nvSpPr>
          <p:cNvPr id="12" name="Text 10"/>
          <p:cNvSpPr/>
          <p:nvPr/>
        </p:nvSpPr>
        <p:spPr>
          <a:xfrm>
            <a:off x="8297317" y="3113931"/>
            <a:ext cx="2860396" cy="10972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2E3"/>
                </a:solidFill>
                <a:latin typeface="DM Sans" pitchFamily="34" charset="0"/>
                <a:ea typeface="DM Sans" pitchFamily="34" charset="-122"/>
                <a:cs typeface="DM Sans" pitchFamily="34" charset="-120"/>
              </a:rPr>
              <a:t>employees in our scale test: $7.0B a year in people costs, and $877M for the same program</a:t>
            </a:r>
            <a:endParaRPr lang="en-US" sz="1600" dirty="0"/>
          </a:p>
        </p:txBody>
      </p:sp>
      <p:sp>
        <p:nvSpPr>
          <p:cNvPr id="13" name="Text 11"/>
          <p:cNvSpPr/>
          <p:nvPr/>
        </p:nvSpPr>
        <p:spPr>
          <a:xfrm>
            <a:off x="812800" y="4526111"/>
            <a:ext cx="10566400" cy="975320"/>
          </a:xfrm>
          <a:prstGeom prst="roundRect">
            <a:avLst>
              <a:gd name="adj" fmla="val 10417"/>
            </a:avLst>
          </a:prstGeom>
          <a:solidFill>
            <a:srgbClr val="F4A261"/>
          </a:solidFill>
          <a:ln/>
        </p:spPr>
        <p:txBody>
          <a:bodyPr wrap="square" lIns="275042" tIns="173442" rIns="0" bIns="148042" rtlCol="0" anchor="t">
            <a:normAutofit/>
          </a:bodyPr>
          <a:lstStyle/>
          <a:p>
            <a:pPr algn="l" indent="0" marL="0">
              <a:lnSpc>
                <a:spcPts val="2240"/>
              </a:lnSpc>
              <a:buNone/>
            </a:pPr>
            <a:r>
              <a:rPr lang="en-US" sz="1600" b="1" dirty="0">
                <a:solidFill>
                  <a:srgbClr val="14213D"/>
                </a:solidFill>
                <a:latin typeface="DM Sans" pitchFamily="34" charset="0"/>
                <a:ea typeface="DM Sans" pitchFamily="34" charset="-122"/>
                <a:cs typeface="DM Sans" pitchFamily="34" charset="-120"/>
              </a:rPr>
              <a:t>Synthetic data only. These are associations between engagement and outcomes in the data, not proven cause and effect, and a modeled opportunity is not a realized return.</a:t>
            </a:r>
            <a:endParaRPr lang="en-US" sz="16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BD"/>
                </a:solidFill>
                <a:latin typeface="DM Sans" pitchFamily="34" charset="0"/>
                <a:ea typeface="DM Sans" pitchFamily="34" charset="-122"/>
                <a:cs typeface="DM Sans" pitchFamily="34" charset="-120"/>
              </a:rPr>
              <a:t>Synthetic capstone data, final code, October 2026. Assumes $60K average salary; replacing a leaver costs 50% of salary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E15"/>
                </a:solidFill>
                <a:latin typeface="DM Sans" pitchFamily="34" charset="0"/>
                <a:ea typeface="DM Sans" pitchFamily="34" charset="-122"/>
                <a:cs typeface="DM Sans" pitchFamily="34" charset="-120"/>
              </a:rPr>
              <a:t>WHY IT’S DIFFERENT</a:t>
            </a:r>
            <a:endParaRPr lang="en-US" sz="1200" dirty="0"/>
          </a:p>
        </p:txBody>
      </p:sp>
      <p:sp>
        <p:nvSpPr>
          <p:cNvPr id="3" name="Text 1"/>
          <p:cNvSpPr/>
          <p:nvPr>
            <p:ph type="title"/>
          </p:nvPr>
        </p:nvSpPr>
        <p:spPr>
          <a:xfrm>
            <a:off x="812800" y="1330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Numbers a CFO can trust</a:t>
            </a:r>
            <a:endParaRPr lang="en-US" sz="3600" dirty="0"/>
          </a:p>
        </p:txBody>
      </p:sp>
      <p:sp>
        <p:nvSpPr>
          <p:cNvPr id="4" name="Shape 2"/>
          <p:cNvSpPr/>
          <p:nvPr/>
        </p:nvSpPr>
        <p:spPr>
          <a:xfrm>
            <a:off x="11376025" y="2138611"/>
            <a:ext cx="0" cy="2655094"/>
          </a:xfrm>
          <a:prstGeom prst="line">
            <a:avLst/>
          </a:prstGeom>
          <a:noFill/>
          <a:ln w="6350">
            <a:solidFill>
              <a:srgbClr val="DDD8CC"/>
            </a:solidFill>
            <a:prstDash val="solid"/>
          </a:ln>
        </p:spPr>
      </p:sp>
      <p:sp>
        <p:nvSpPr>
          <p:cNvPr id="5" name="Shape 3"/>
          <p:cNvSpPr/>
          <p:nvPr/>
        </p:nvSpPr>
        <p:spPr>
          <a:xfrm>
            <a:off x="812800" y="4790529"/>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151311"/>
          <a:ext cx="10547350" cy="2636044"/>
        </p:xfrm>
        <a:graphic>
          <a:graphicData uri="http://schemas.openxmlformats.org/drawingml/2006/table">
            <a:tbl>
              <a:tblPr/>
              <a:tblGrid>
                <a:gridCol w="2742311"/>
                <a:gridCol w="3375152"/>
                <a:gridCol w="4429887"/>
              </a:tblGrid>
              <a:tr h="439341">
                <a:tc>
                  <a:txBody>
                    <a:bodyPr/>
                    <a:lstStyle/>
                    <a:p>
                      <a:pPr indent="0" marL="0">
                        <a:lnSpc>
                          <a:spcPts val="2240"/>
                        </a:lnSpc>
                        <a:buNone/>
                      </a:pPr>
                      <a:endParaRPr lang="en-US" sz="1600" dirty="0">
                        <a:latin typeface="DM Sans" charset="0"/>
                        <a:ea typeface="DM Sans" charset="0"/>
                        <a:cs typeface="DM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240"/>
                        </a:lnSpc>
                        <a:buNone/>
                      </a:pPr>
                      <a:r>
                        <a:rPr lang="en-US" sz="1600" b="1" dirty="0">
                          <a:solidFill>
                            <a:srgbClr val="F7F5F0"/>
                          </a:solidFill>
                          <a:latin typeface="DM Sans" pitchFamily="34" charset="0"/>
                          <a:ea typeface="DM Sans" pitchFamily="34" charset="-122"/>
                          <a:cs typeface="DM Sans" pitchFamily="34" charset="-120"/>
                        </a:rPr>
                        <a:t>Simple survey-and-HR math</a:t>
                      </a:r>
                      <a:endParaRPr lang="en-US" sz="1600" dirty="0">
                        <a:latin typeface="DM Sans" charset="0"/>
                        <a:ea typeface="DM Sans" charset="0"/>
                        <a:cs typeface="DM Sans" charset="0"/>
                      </a:endParaRPr>
                    </a:p>
                  </a:txBody>
                  <a:tcPr marL="71120" marR="71120" marT="71120" marB="7112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240"/>
                        </a:lnSpc>
                        <a:buNone/>
                      </a:pPr>
                      <a:r>
                        <a:rPr lang="en-US" sz="1600" b="1" dirty="0">
                          <a:solidFill>
                            <a:srgbClr val="F4A261"/>
                          </a:solidFill>
                          <a:latin typeface="DM Sans" pitchFamily="34" charset="0"/>
                          <a:ea typeface="DM Sans" pitchFamily="34" charset="-122"/>
                          <a:cs typeface="DM Sans" pitchFamily="34" charset="-120"/>
                        </a:rPr>
                        <a:t>Engagia</a:t>
                      </a:r>
                      <a:endParaRPr lang="en-US" sz="1600" dirty="0">
                        <a:latin typeface="DM Sans" charset="0"/>
                        <a:ea typeface="DM Sans" charset="0"/>
                        <a:cs typeface="DM Sans" charset="0"/>
                      </a:endParaRPr>
                    </a:p>
                  </a:txBody>
                  <a:tcPr marL="71120" marR="71120" marT="71120" marB="7112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39341">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Who is counted</a:t>
                      </a:r>
                      <a:endParaRPr lang="en-US" sz="1600" dirty="0">
                        <a:latin typeface="DM Sans" charset="0"/>
                        <a:ea typeface="DM Sans" charset="0"/>
                        <a:cs typeface="DM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2240"/>
                        </a:lnSpc>
                        <a:buNone/>
                      </a:pPr>
                      <a:r>
                        <a:rPr lang="en-US" sz="1600" dirty="0">
                          <a:solidFill>
                            <a:srgbClr val="4A5568"/>
                          </a:solidFill>
                          <a:latin typeface="DM Sans" pitchFamily="34" charset="0"/>
                          <a:ea typeface="DM Sans" pitchFamily="34" charset="-122"/>
                          <a:cs typeface="DM Sans" pitchFamily="34" charset="-120"/>
                        </a:rPr>
                        <a:t>Survey takers only</a:t>
                      </a:r>
                      <a:endParaRPr lang="en-US" sz="1600" dirty="0">
                        <a:latin typeface="DM Sans" charset="0"/>
                        <a:ea typeface="DM Sans" charset="0"/>
                        <a:cs typeface="DM Sans" charset="0"/>
                      </a:endParaRPr>
                    </a:p>
                  </a:txBody>
                  <a:tcPr marL="71120" marR="71120" marT="71120" marB="7112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Every employee with an outcome</a:t>
                      </a:r>
                      <a:endParaRPr lang="en-US" sz="1600" dirty="0">
                        <a:latin typeface="DM Sans" charset="0"/>
                        <a:ea typeface="DM Sans" charset="0"/>
                        <a:cs typeface="DM Sans" charset="0"/>
                      </a:endParaRPr>
                    </a:p>
                  </a:txBody>
                  <a:tcPr marL="71120" marR="71120" marT="71120" marB="7112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439341">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The answer</a:t>
                      </a:r>
                      <a:endParaRPr lang="en-US" sz="1600" dirty="0">
                        <a:latin typeface="DM Sans" charset="0"/>
                        <a:ea typeface="DM Sans" charset="0"/>
                        <a:cs typeface="DM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BF"/>
                      </a:solidFill>
                      <a:prstDash val="solid"/>
                      <a:round/>
                      <a:headEnd type="none" w="med" len="med"/>
                      <a:tailEnd type="none" w="med" len="med"/>
                    </a:lnB>
                    <a:solidFill>
                      <a:srgbClr val="F7F5F0"/>
                    </a:solidFill>
                  </a:tcPr>
                </a:tc>
                <a:tc>
                  <a:txBody>
                    <a:bodyPr/>
                    <a:lstStyle/>
                    <a:p>
                      <a:pPr indent="0" marL="0">
                        <a:lnSpc>
                          <a:spcPts val="2240"/>
                        </a:lnSpc>
                        <a:buNone/>
                      </a:pPr>
                      <a:r>
                        <a:rPr lang="en-US" sz="1600" dirty="0">
                          <a:solidFill>
                            <a:srgbClr val="4A5568"/>
                          </a:solidFill>
                          <a:latin typeface="DM Sans" pitchFamily="34" charset="0"/>
                          <a:ea typeface="DM Sans" pitchFamily="34" charset="-122"/>
                          <a:cs typeface="DM Sans" pitchFamily="34" charset="-120"/>
                        </a:rPr>
                        <a:t>One number</a:t>
                      </a:r>
                      <a:endParaRPr lang="en-US" sz="1600" dirty="0">
                        <a:latin typeface="DM Sans" charset="0"/>
                        <a:ea typeface="DM Sans" charset="0"/>
                        <a:cs typeface="DM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BF"/>
                      </a:solidFill>
                      <a:prstDash val="solid"/>
                      <a:round/>
                      <a:headEnd type="none" w="med" len="med"/>
                      <a:tailEnd type="none" w="med" len="med"/>
                    </a:lnB>
                    <a:solidFill>
                      <a:srgbClr val="F7F5F0"/>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A 95% range, labelled an association</a:t>
                      </a:r>
                      <a:endParaRPr lang="en-US" sz="1600" dirty="0">
                        <a:latin typeface="DM Sans" charset="0"/>
                        <a:ea typeface="DM Sans" charset="0"/>
                        <a:cs typeface="DM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BF"/>
                      </a:solidFill>
                      <a:prstDash val="solid"/>
                      <a:round/>
                      <a:headEnd type="none" w="med" len="med"/>
                      <a:tailEnd type="none" w="med" len="med"/>
                    </a:lnB>
                    <a:solidFill>
                      <a:srgbClr val="F7F5F0"/>
                    </a:solidFill>
                  </a:tcPr>
                </a:tc>
              </a:tr>
              <a:tr h="439341">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Survey bias</a:t>
                      </a:r>
                      <a:endParaRPr lang="en-US" sz="1600" dirty="0">
                        <a:latin typeface="DM Sans" charset="0"/>
                        <a:ea typeface="DM Sans" charset="0"/>
                        <a:cs typeface="DM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2240"/>
                        </a:lnSpc>
                        <a:buNone/>
                      </a:pPr>
                      <a:r>
                        <a:rPr lang="en-US" sz="1600" dirty="0">
                          <a:solidFill>
                            <a:srgbClr val="4A5568"/>
                          </a:solidFill>
                          <a:latin typeface="DM Sans" pitchFamily="34" charset="0"/>
                          <a:ea typeface="DM Sans" pitchFamily="34" charset="-122"/>
                          <a:cs typeface="DM Sans" pitchFamily="34" charset="-120"/>
                        </a:rPr>
                        <a:t>Ignored</a:t>
                      </a:r>
                      <a:endParaRPr lang="en-US" sz="1600" dirty="0">
                        <a:latin typeface="DM Sans" charset="0"/>
                        <a:ea typeface="DM Sans" charset="0"/>
                        <a:cs typeface="DM Sans" charset="0"/>
                      </a:endParaRPr>
                    </a:p>
                  </a:txBody>
                  <a:tcPr marL="71120" marR="71120" marT="71120" marB="7112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Flagged on every money page</a:t>
                      </a:r>
                      <a:endParaRPr lang="en-US" sz="1600" dirty="0">
                        <a:latin typeface="DM Sans" charset="0"/>
                        <a:ea typeface="DM Sans" charset="0"/>
                        <a:cs typeface="DM Sans" charset="0"/>
                      </a:endParaRPr>
                    </a:p>
                  </a:txBody>
                  <a:tcPr marL="71120" marR="71120" marT="71120" marB="7112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439341">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Team hot spots</a:t>
                      </a:r>
                      <a:endParaRPr lang="en-US" sz="1600" dirty="0">
                        <a:latin typeface="DM Sans" charset="0"/>
                        <a:ea typeface="DM Sans" charset="0"/>
                        <a:cs typeface="DM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BF"/>
                      </a:solidFill>
                      <a:prstDash val="solid"/>
                      <a:round/>
                      <a:headEnd type="none" w="med" len="med"/>
                      <a:tailEnd type="none" w="med" len="med"/>
                    </a:lnB>
                    <a:solidFill>
                      <a:srgbClr val="F7F5F0"/>
                    </a:solidFill>
                  </a:tcPr>
                </a:tc>
                <a:tc>
                  <a:txBody>
                    <a:bodyPr/>
                    <a:lstStyle/>
                    <a:p>
                      <a:pPr indent="0" marL="0">
                        <a:lnSpc>
                          <a:spcPts val="2240"/>
                        </a:lnSpc>
                        <a:buNone/>
                      </a:pPr>
                      <a:r>
                        <a:rPr lang="en-US" sz="1600" dirty="0">
                          <a:solidFill>
                            <a:srgbClr val="4A5568"/>
                          </a:solidFill>
                          <a:latin typeface="DM Sans" pitchFamily="34" charset="0"/>
                          <a:ea typeface="DM Sans" pitchFamily="34" charset="-122"/>
                          <a:cs typeface="DM Sans" pitchFamily="34" charset="-120"/>
                        </a:rPr>
                        <a:t>Raw ranking, mostly noise</a:t>
                      </a:r>
                      <a:endParaRPr lang="en-US" sz="1600" dirty="0">
                        <a:latin typeface="DM Sans" charset="0"/>
                        <a:ea typeface="DM Sans" charset="0"/>
                        <a:cs typeface="DM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BF"/>
                      </a:solidFill>
                      <a:prstDash val="solid"/>
                      <a:round/>
                      <a:headEnd type="none" w="med" len="med"/>
                      <a:tailEnd type="none" w="med" len="med"/>
                    </a:lnB>
                    <a:solidFill>
                      <a:srgbClr val="F7F5F0"/>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Smoothed; shown only if they persist</a:t>
                      </a:r>
                      <a:endParaRPr lang="en-US" sz="1600" dirty="0">
                        <a:latin typeface="DM Sans" charset="0"/>
                        <a:ea typeface="DM Sans" charset="0"/>
                        <a:cs typeface="DM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BF"/>
                      </a:solidFill>
                      <a:prstDash val="solid"/>
                      <a:round/>
                      <a:headEnd type="none" w="med" len="med"/>
                      <a:tailEnd type="none" w="med" len="med"/>
                    </a:lnB>
                    <a:solidFill>
                      <a:srgbClr val="F7F5F0"/>
                    </a:solidFill>
                  </a:tcPr>
                </a:tc>
              </a:tr>
              <a:tr h="439341">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Program cost</a:t>
                      </a:r>
                      <a:endParaRPr lang="en-US" sz="1600" dirty="0">
                        <a:latin typeface="DM Sans" charset="0"/>
                        <a:ea typeface="DM Sans" charset="0"/>
                        <a:cs typeface="DM Sans" charset="0"/>
                      </a:endParaRPr>
                    </a:p>
                  </a:txBody>
                  <a:tcPr marL="71120" marR="71120" marT="71120" marB="71120" anchor="t">
                    <a:lnL w="12700" cap="flat" cmpd="sng" algn="ctr">
                      <a:solidFill>
                        <a:srgbClr val="C5C4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2240"/>
                        </a:lnSpc>
                        <a:buNone/>
                      </a:pPr>
                      <a:r>
                        <a:rPr lang="en-US" sz="1600" dirty="0">
                          <a:solidFill>
                            <a:srgbClr val="4A5568"/>
                          </a:solidFill>
                          <a:latin typeface="DM Sans" pitchFamily="34" charset="0"/>
                          <a:ea typeface="DM Sans" pitchFamily="34" charset="-122"/>
                          <a:cs typeface="DM Sans" pitchFamily="34" charset="-120"/>
                        </a:rPr>
                        <a:t>Not shown</a:t>
                      </a:r>
                      <a:endParaRPr lang="en-US" sz="1600" dirty="0">
                        <a:latin typeface="DM Sans" charset="0"/>
                        <a:ea typeface="DM Sans" charset="0"/>
                        <a:cs typeface="DM Sans" charset="0"/>
                      </a:endParaRPr>
                    </a:p>
                  </a:txBody>
                  <a:tcPr marL="71120" marR="71120" marT="71120" marB="7112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2240"/>
                        </a:lnSpc>
                        <a:buNone/>
                      </a:pPr>
                      <a:r>
                        <a:rPr lang="en-US" sz="1600" dirty="0">
                          <a:solidFill>
                            <a:srgbClr val="14213D"/>
                          </a:solidFill>
                          <a:latin typeface="DM Sans" pitchFamily="34" charset="0"/>
                          <a:ea typeface="DM Sans" pitchFamily="34" charset="-122"/>
                          <a:cs typeface="DM Sans" pitchFamily="34" charset="-120"/>
                        </a:rPr>
                        <a:t>ROI, payback, break-even, ranged</a:t>
                      </a:r>
                      <a:endParaRPr lang="en-US" sz="1600" dirty="0">
                        <a:latin typeface="DM Sans" charset="0"/>
                        <a:ea typeface="DM Sans" charset="0"/>
                        <a:cs typeface="DM Sans" charset="0"/>
                      </a:endParaRPr>
                    </a:p>
                  </a:txBody>
                  <a:tcPr marL="71120" marR="71120" marT="71120" marB="7112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bl>
          </a:graphicData>
        </a:graphic>
      </p:graphicFrame>
      <p:sp>
        <p:nvSpPr>
          <p:cNvPr id="7" name="Text 4"/>
          <p:cNvSpPr/>
          <p:nvPr/>
        </p:nvSpPr>
        <p:spPr>
          <a:xfrm>
            <a:off x="812800" y="5440680"/>
            <a:ext cx="11379200" cy="685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We found each of these flaws in our own first version, measured it on test data and built the fix. That method is the product.</a:t>
            </a:r>
            <a:endParaRPr lang="en-US" sz="16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E15"/>
                </a:solidFill>
                <a:latin typeface="DM Sans" pitchFamily="34" charset="0"/>
                <a:ea typeface="DM Sans" pitchFamily="34" charset="-122"/>
                <a:cs typeface="DM Sans" pitchFamily="34" charset="-120"/>
              </a:rPr>
              <a:t>Engagia</a:t>
            </a:r>
            <a:r>
              <a:rPr lang="en-US" sz="1200" dirty="0">
                <a:solidFill>
                  <a:srgbClr val="6A7179"/>
                </a:solidFill>
                <a:latin typeface="DM Sans" pitchFamily="34" charset="0"/>
                <a:ea typeface="DM Sans" pitchFamily="34" charset="-122"/>
                <a:cs typeface="DM Sans" pitchFamily="34" charset="-120"/>
              </a:rPr>
              <a:t>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E15"/>
                </a:solidFill>
                <a:latin typeface="DM Sans" pitchFamily="34" charset="0"/>
                <a:ea typeface="DM Sans" pitchFamily="34" charset="-122"/>
                <a:cs typeface="DM Sans" pitchFamily="34" charset="-120"/>
              </a:rPr>
              <a:t>FINANCIAL RIGOR</a:t>
            </a:r>
            <a:endParaRPr lang="en-US" sz="1200" dirty="0"/>
          </a:p>
        </p:txBody>
      </p:sp>
      <p:sp>
        <p:nvSpPr>
          <p:cNvPr id="3" name="Text 1"/>
          <p:cNvSpPr/>
          <p:nvPr>
            <p:ph type="title"/>
          </p:nvPr>
        </p:nvSpPr>
        <p:spPr>
          <a:xfrm>
            <a:off x="812800" y="1229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Every dollar shows its work</a:t>
            </a:r>
            <a:endParaRPr lang="en-US" sz="3600" dirty="0"/>
          </a:p>
        </p:txBody>
      </p:sp>
      <p:sp>
        <p:nvSpPr>
          <p:cNvPr id="7" name="Shape 5"/>
          <p:cNvSpPr/>
          <p:nvPr/>
        </p:nvSpPr>
        <p:spPr>
          <a:xfrm>
            <a:off x="8851392" y="2103120"/>
            <a:ext cx="2523744" cy="3108960"/>
          </a:xfrm>
          <a:prstGeom prst="roundRect">
            <a:avLst>
              <a:gd name="adj" fmla="val 6307"/>
            </a:avLst>
          </a:prstGeom>
          <a:solidFill>
            <a:srgbClr val="FDFCF9"/>
          </a:solidFill>
          <a:ln w="6350">
            <a:solidFill>
              <a:srgbClr val="DDD8CC"/>
            </a:solidFill>
            <a:prstDash val="solid"/>
          </a:ln>
        </p:spPr>
      </p:sp>
      <p:sp>
        <p:nvSpPr>
          <p:cNvPr id="8" name="Text 6"/>
          <p:cNvSpPr/>
          <p:nvPr/>
        </p:nvSpPr>
        <p:spPr>
          <a:xfrm>
            <a:off x="9061704" y="2331720"/>
            <a:ext cx="2103120" cy="640080"/>
          </a:xfrm>
          <a:prstGeom prst="rect">
            <a:avLst/>
          </a:prstGeom>
          <a:noFill/>
          <a:ln/>
        </p:spPr>
        <p:txBody>
          <a:bodyPr wrap="square" lIns="0" tIns="0" rIns="0" bIns="0" rtlCol="0" anchor="t">
            <a:normAutofit/>
          </a:bodyPr>
          <a:lstStyle/>
          <a:p>
            <a:pPr algn="l" indent="0" marL="0">
              <a:buNone/>
            </a:pPr>
            <a:r>
              <a:rPr lang="en-US" sz="1800" b="1" dirty="0">
                <a:solidFill>
                  <a:srgbClr val="B84E15"/>
                </a:solidFill>
                <a:latin typeface="DM Sans" pitchFamily="34" charset="0"/>
                <a:ea typeface="DM Sans" pitchFamily="34" charset="-122"/>
                <a:cs typeface="DM Sans" pitchFamily="34" charset="-120"/>
              </a:rPr>
              <a:t>Sourced inputs</a:t>
            </a:r>
            <a:endParaRPr lang="en-US" sz="1600" dirty="0"/>
          </a:p>
        </p:txBody>
      </p:sp>
      <p:sp>
        <p:nvSpPr>
          <p:cNvPr id="9" name="Text 7"/>
          <p:cNvSpPr/>
          <p:nvPr/>
        </p:nvSpPr>
        <p:spPr>
          <a:xfrm>
            <a:off x="9061704" y="3017520"/>
            <a:ext cx="2103120" cy="2011680"/>
          </a:xfrm>
          <a:prstGeom prst="rect">
            <a:avLst/>
          </a:prstGeom>
          <a:noFill/>
          <a:ln/>
        </p:spPr>
        <p:txBody>
          <a:bodyPr wrap="square" lIns="0" tIns="0" rIns="0" bIns="0" rtlCol="0" anchor="t">
            <a:normAutofit/>
          </a:bodyPr>
          <a:lstStyle/>
          <a:p>
            <a:pPr algn="l" indent="0" marL="0">
              <a:buNone/>
            </a:pPr>
            <a:r>
              <a:rPr lang="en-US" sz="1400" dirty="0">
                <a:solidFill>
                  <a:srgbClr val="4A5568"/>
                </a:solidFill>
                <a:latin typeface="DM Sans" pitchFamily="34" charset="0"/>
                <a:ea typeface="DM Sans" pitchFamily="34" charset="-122"/>
                <a:cs typeface="DM Sans" pitchFamily="34" charset="-120"/>
              </a:rPr>
              <a:t>Every assumption is tagged: company-provided, external benchmark, from the data, own estimate or placeholder. Placeholders are never presented as facts.</a:t>
            </a:r>
            <a:endParaRPr lang="en-US" sz="1200" dirty="0"/>
          </a:p>
        </p:txBody>
      </p:sp>
      <p:sp>
        <p:nvSpPr>
          <p:cNvPr id="10" name="Shape 8"/>
          <p:cNvSpPr/>
          <p:nvPr/>
        </p:nvSpPr>
        <p:spPr>
          <a:xfrm>
            <a:off x="813816" y="2103120"/>
            <a:ext cx="2523744" cy="3108960"/>
          </a:xfrm>
          <a:prstGeom prst="roundRect">
            <a:avLst>
              <a:gd name="adj" fmla="val 6307"/>
            </a:avLst>
          </a:prstGeom>
          <a:solidFill>
            <a:srgbClr val="FDFCF9"/>
          </a:solidFill>
          <a:ln w="6350">
            <a:solidFill>
              <a:srgbClr val="DDD8CC"/>
            </a:solidFill>
            <a:prstDash val="solid"/>
          </a:ln>
        </p:spPr>
      </p:sp>
      <p:sp>
        <p:nvSpPr>
          <p:cNvPr id="11" name="Text 9"/>
          <p:cNvSpPr/>
          <p:nvPr/>
        </p:nvSpPr>
        <p:spPr>
          <a:xfrm>
            <a:off x="1024128" y="2331720"/>
            <a:ext cx="2103120" cy="640080"/>
          </a:xfrm>
          <a:prstGeom prst="rect">
            <a:avLst/>
          </a:prstGeom>
          <a:noFill/>
          <a:ln/>
        </p:spPr>
        <p:txBody>
          <a:bodyPr wrap="square" lIns="0" tIns="0" rIns="0" bIns="0" rtlCol="0" anchor="t">
            <a:normAutofit/>
          </a:bodyPr>
          <a:lstStyle/>
          <a:p>
            <a:pPr algn="l" indent="0" marL="0">
              <a:buNone/>
            </a:pPr>
            <a:r>
              <a:rPr lang="en-US" sz="1800" b="1" dirty="0">
                <a:solidFill>
                  <a:srgbClr val="B84E15"/>
                </a:solidFill>
                <a:latin typeface="DM Sans" pitchFamily="34" charset="0"/>
                <a:ea typeface="DM Sans" pitchFamily="34" charset="-122"/>
                <a:cs typeface="DM Sans" pitchFamily="34" charset="-120"/>
              </a:rPr>
              <a:t>ROI, payback, break-even</a:t>
            </a:r>
            <a:endParaRPr lang="en-US" sz="1600" dirty="0"/>
          </a:p>
        </p:txBody>
      </p:sp>
      <p:sp>
        <p:nvSpPr>
          <p:cNvPr id="12" name="Text 10"/>
          <p:cNvSpPr/>
          <p:nvPr/>
        </p:nvSpPr>
        <p:spPr>
          <a:xfrm>
            <a:off x="1024128" y="3017520"/>
            <a:ext cx="2103120" cy="2011680"/>
          </a:xfrm>
          <a:prstGeom prst="rect">
            <a:avLst/>
          </a:prstGeom>
          <a:noFill/>
          <a:ln/>
        </p:spPr>
        <p:txBody>
          <a:bodyPr wrap="square" lIns="0" tIns="0" rIns="0" bIns="0" rtlCol="0" anchor="t">
            <a:normAutofit/>
          </a:bodyPr>
          <a:lstStyle/>
          <a:p>
            <a:pPr algn="l" indent="0" marL="0">
              <a:buNone/>
            </a:pPr>
            <a:r>
              <a:rPr lang="en-US" sz="1400" dirty="0">
                <a:solidFill>
                  <a:srgbClr val="4A5568"/>
                </a:solidFill>
                <a:latin typeface="DM Sans" pitchFamily="34" charset="0"/>
                <a:ea typeface="DM Sans" pitchFamily="34" charset="-122"/>
                <a:cs typeface="DM Sans" pitchFamily="34" charset="-120"/>
              </a:rPr>
              <a:t>Enter a program cost and the share of the modeled effect it delivers. Net value, ROI, payback and break-even each carry a range. No lift is ever assumed.</a:t>
            </a:r>
            <a:endParaRPr lang="en-US" sz="1200" dirty="0"/>
          </a:p>
        </p:txBody>
      </p:sp>
      <p:sp>
        <p:nvSpPr>
          <p:cNvPr id="13" name="Shape 11"/>
          <p:cNvSpPr/>
          <p:nvPr/>
        </p:nvSpPr>
        <p:spPr>
          <a:xfrm>
            <a:off x="3493008" y="2103120"/>
            <a:ext cx="2523744" cy="3108960"/>
          </a:xfrm>
          <a:prstGeom prst="roundRect">
            <a:avLst>
              <a:gd name="adj" fmla="val 6307"/>
            </a:avLst>
          </a:prstGeom>
          <a:solidFill>
            <a:srgbClr val="FDFCF9"/>
          </a:solidFill>
          <a:ln w="6350">
            <a:solidFill>
              <a:srgbClr val="DDD8CC"/>
            </a:solidFill>
            <a:prstDash val="solid"/>
          </a:ln>
        </p:spPr>
      </p:sp>
      <p:sp>
        <p:nvSpPr>
          <p:cNvPr id="14" name="Text 12"/>
          <p:cNvSpPr/>
          <p:nvPr/>
        </p:nvSpPr>
        <p:spPr>
          <a:xfrm>
            <a:off x="3703320" y="2331720"/>
            <a:ext cx="2103120" cy="640080"/>
          </a:xfrm>
          <a:prstGeom prst="rect">
            <a:avLst/>
          </a:prstGeom>
          <a:noFill/>
          <a:ln/>
        </p:spPr>
        <p:txBody>
          <a:bodyPr wrap="square" lIns="0" tIns="0" rIns="0" bIns="0" rtlCol="0" anchor="t">
            <a:normAutofit/>
          </a:bodyPr>
          <a:lstStyle/>
          <a:p>
            <a:pPr algn="l" indent="0" marL="0">
              <a:buNone/>
            </a:pPr>
            <a:r>
              <a:rPr lang="en-US" sz="1800" b="1" dirty="0">
                <a:solidFill>
                  <a:srgbClr val="B84E15"/>
                </a:solidFill>
                <a:latin typeface="DM Sans" pitchFamily="34" charset="0"/>
                <a:ea typeface="DM Sans" pitchFamily="34" charset="-122"/>
                <a:cs typeface="DM Sans" pitchFamily="34" charset="-120"/>
              </a:rPr>
              <a:t>Sensitivity table</a:t>
            </a:r>
            <a:endParaRPr lang="en-US" sz="1600" dirty="0"/>
          </a:p>
        </p:txBody>
      </p:sp>
      <p:sp>
        <p:nvSpPr>
          <p:cNvPr id="15" name="Text 13"/>
          <p:cNvSpPr/>
          <p:nvPr/>
        </p:nvSpPr>
        <p:spPr>
          <a:xfrm>
            <a:off x="3703320" y="3017520"/>
            <a:ext cx="2103120" cy="2011680"/>
          </a:xfrm>
          <a:prstGeom prst="rect">
            <a:avLst/>
          </a:prstGeom>
          <a:noFill/>
          <a:ln/>
        </p:spPr>
        <p:txBody>
          <a:bodyPr wrap="square" lIns="0" tIns="0" rIns="0" bIns="0" rtlCol="0" anchor="t">
            <a:normAutofit/>
          </a:bodyPr>
          <a:lstStyle/>
          <a:p>
            <a:pPr algn="l" indent="0" marL="0">
              <a:buNone/>
            </a:pPr>
            <a:r>
              <a:rPr lang="en-US" sz="1400" dirty="0">
                <a:solidFill>
                  <a:srgbClr val="4A5568"/>
                </a:solidFill>
                <a:latin typeface="DM Sans" pitchFamily="34" charset="0"/>
                <a:ea typeface="DM Sans" pitchFamily="34" charset="-122"/>
                <a:cs typeface="DM Sans" pitchFamily="34" charset="-120"/>
              </a:rPr>
              <a:t>Moves one cost assumption at a time and is kept apart from the 95% statistical range, so the two kinds of uncertainty are never mixed.</a:t>
            </a:r>
            <a:endParaRPr lang="en-US" sz="1200" dirty="0"/>
          </a:p>
        </p:txBody>
      </p:sp>
      <p:sp>
        <p:nvSpPr>
          <p:cNvPr id="16" name="Shape 14"/>
          <p:cNvSpPr/>
          <p:nvPr/>
        </p:nvSpPr>
        <p:spPr>
          <a:xfrm>
            <a:off x="6172200" y="2103120"/>
            <a:ext cx="2523744" cy="3108960"/>
          </a:xfrm>
          <a:prstGeom prst="roundRect">
            <a:avLst>
              <a:gd name="adj" fmla="val 6307"/>
            </a:avLst>
          </a:prstGeom>
          <a:solidFill>
            <a:srgbClr val="FDFCF9"/>
          </a:solidFill>
          <a:ln w="6350">
            <a:solidFill>
              <a:srgbClr val="DDD8CC"/>
            </a:solidFill>
            <a:prstDash val="solid"/>
          </a:ln>
        </p:spPr>
      </p:sp>
      <p:sp>
        <p:nvSpPr>
          <p:cNvPr id="17" name="Text 15"/>
          <p:cNvSpPr/>
          <p:nvPr/>
        </p:nvSpPr>
        <p:spPr>
          <a:xfrm>
            <a:off x="6382512" y="2331720"/>
            <a:ext cx="2103120" cy="640080"/>
          </a:xfrm>
          <a:prstGeom prst="rect">
            <a:avLst/>
          </a:prstGeom>
          <a:noFill/>
          <a:ln/>
        </p:spPr>
        <p:txBody>
          <a:bodyPr wrap="square" lIns="0" tIns="0" rIns="0" bIns="0" rtlCol="0" anchor="t">
            <a:normAutofit/>
          </a:bodyPr>
          <a:lstStyle/>
          <a:p>
            <a:pPr algn="l" indent="0" marL="0">
              <a:buNone/>
            </a:pPr>
            <a:r>
              <a:rPr lang="en-US" sz="1800" b="1" dirty="0">
                <a:solidFill>
                  <a:srgbClr val="B84E15"/>
                </a:solidFill>
                <a:latin typeface="DM Sans" pitchFamily="34" charset="0"/>
                <a:ea typeface="DM Sans" pitchFamily="34" charset="-122"/>
                <a:cs typeface="DM Sans" pitchFamily="34" charset="-120"/>
              </a:rPr>
              <a:t>Calculation receipts</a:t>
            </a:r>
            <a:endParaRPr lang="en-US" sz="1600" dirty="0"/>
          </a:p>
        </p:txBody>
      </p:sp>
      <p:sp>
        <p:nvSpPr>
          <p:cNvPr id="18" name="Text 16"/>
          <p:cNvSpPr/>
          <p:nvPr/>
        </p:nvSpPr>
        <p:spPr>
          <a:xfrm>
            <a:off x="6382512" y="3017520"/>
            <a:ext cx="2103120" cy="2011680"/>
          </a:xfrm>
          <a:prstGeom prst="rect">
            <a:avLst/>
          </a:prstGeom>
          <a:noFill/>
          <a:ln/>
        </p:spPr>
        <p:txBody>
          <a:bodyPr wrap="square" lIns="0" tIns="0" rIns="0" bIns="0" rtlCol="0" anchor="t">
            <a:normAutofit/>
          </a:bodyPr>
          <a:lstStyle/>
          <a:p>
            <a:pPr algn="l" indent="0" marL="0">
              <a:buNone/>
            </a:pPr>
            <a:r>
              <a:rPr lang="en-US" sz="1400" dirty="0">
                <a:solidFill>
                  <a:srgbClr val="4A5568"/>
                </a:solidFill>
                <a:latin typeface="DM Sans" pitchFamily="34" charset="0"/>
                <a:ea typeface="DM Sans" pitchFamily="34" charset="-122"/>
                <a:cs typeface="DM Sans" pitchFamily="34" charset="-120"/>
              </a:rPr>
              <a:t>Who is counted, the inputs and their sources, the formula and the arithmetic behind every figure. Ask AI can show the same receipt.</a:t>
            </a:r>
            <a:endParaRPr lang="en-US" sz="12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E15"/>
                </a:solidFill>
                <a:latin typeface="DM Sans" pitchFamily="34" charset="0"/>
                <a:ea typeface="DM Sans" pitchFamily="34" charset="-122"/>
                <a:cs typeface="DM Sans" pitchFamily="34" charset="-120"/>
              </a:rPr>
              <a:t>Engagia</a:t>
            </a:r>
            <a:r>
              <a:rPr lang="en-US" sz="1200" dirty="0">
                <a:solidFill>
                  <a:srgbClr val="6A7179"/>
                </a:solidFill>
                <a:latin typeface="DM Sans" pitchFamily="34" charset="0"/>
                <a:ea typeface="DM Sans" pitchFamily="34" charset="-122"/>
                <a:cs typeface="DM Sans" pitchFamily="34" charset="-120"/>
              </a:rPr>
              <a:t>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61"/>
                </a:solidFill>
                <a:latin typeface="DM Sans" pitchFamily="34" charset="0"/>
                <a:ea typeface="DM Sans" pitchFamily="34" charset="-122"/>
                <a:cs typeface="DM Sans" pitchFamily="34" charset="-120"/>
              </a:rPr>
              <a:t>WHAT’S NEXT</a:t>
            </a:r>
            <a:endParaRPr lang="en-US" sz="1200" dirty="0"/>
          </a:p>
        </p:txBody>
      </p:sp>
      <p:sp>
        <p:nvSpPr>
          <p:cNvPr id="3" name="Text 1"/>
          <p:cNvSpPr/>
          <p:nvPr>
            <p:ph type="title"/>
          </p:nvPr>
        </p:nvSpPr>
        <p:spPr>
          <a:xfrm>
            <a:off x="812800" y="1280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5F0"/>
                </a:solidFill>
                <a:latin typeface="Space Grotesk" pitchFamily="34" charset="0"/>
                <a:ea typeface="Space Grotesk" pitchFamily="34" charset="-122"/>
                <a:cs typeface="Space Grotesk" pitchFamily="34" charset="-120"/>
              </a:rPr>
              <a:t>From capstone to pilot</a:t>
            </a:r>
            <a:endParaRPr lang="en-US" sz="3600" dirty="0"/>
          </a:p>
        </p:txBody>
      </p:sp>
      <p:sp>
        <p:nvSpPr>
          <p:cNvPr id="4" name="Shape 2"/>
          <p:cNvSpPr/>
          <p:nvPr/>
        </p:nvSpPr>
        <p:spPr>
          <a:xfrm>
            <a:off x="812800" y="2049711"/>
            <a:ext cx="3318917" cy="0"/>
          </a:xfrm>
          <a:prstGeom prst="line">
            <a:avLst/>
          </a:prstGeom>
          <a:noFill/>
          <a:ln w="25400">
            <a:solidFill>
              <a:srgbClr val="F4A261"/>
            </a:solidFill>
            <a:prstDash val="solid"/>
          </a:ln>
        </p:spPr>
      </p:sp>
      <p:sp>
        <p:nvSpPr>
          <p:cNvPr id="5" name="Text 3"/>
          <p:cNvSpPr/>
          <p:nvPr/>
        </p:nvSpPr>
        <p:spPr>
          <a:xfrm>
            <a:off x="812800" y="2214811"/>
            <a:ext cx="3418484"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4A261"/>
                </a:solidFill>
                <a:latin typeface="Space Grotesk" pitchFamily="34" charset="0"/>
                <a:ea typeface="Space Grotesk" pitchFamily="34" charset="-122"/>
                <a:cs typeface="Space Grotesk" pitchFamily="34" charset="-120"/>
              </a:rPr>
              <a:t>Now</a:t>
            </a:r>
            <a:endParaRPr lang="en-US" sz="3600" dirty="0"/>
          </a:p>
        </p:txBody>
      </p:sp>
      <p:sp>
        <p:nvSpPr>
          <p:cNvPr id="6" name="Text 4"/>
          <p:cNvSpPr/>
          <p:nvPr/>
        </p:nvSpPr>
        <p:spPr>
          <a:xfrm>
            <a:off x="812800" y="2819301"/>
            <a:ext cx="3418484" cy="1371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2E3"/>
                </a:solidFill>
                <a:latin typeface="DM Sans" pitchFamily="34" charset="0"/>
                <a:ea typeface="DM Sans" pitchFamily="34" charset="-122"/>
                <a:cs typeface="DM Sans" pitchFamily="34" charset="-120"/>
              </a:rPr>
              <a:t>Working agent with ranges, bias warnings, ROI and receipts; tested on 5,000 and 1,000,000 employees</a:t>
            </a:r>
            <a:endParaRPr lang="en-US" sz="1600" dirty="0"/>
          </a:p>
        </p:txBody>
      </p:sp>
      <p:sp>
        <p:nvSpPr>
          <p:cNvPr id="7" name="Shape 5"/>
          <p:cNvSpPr/>
          <p:nvPr/>
        </p:nvSpPr>
        <p:spPr>
          <a:xfrm>
            <a:off x="4436517" y="2049711"/>
            <a:ext cx="3318966" cy="0"/>
          </a:xfrm>
          <a:prstGeom prst="line">
            <a:avLst/>
          </a:prstGeom>
          <a:noFill/>
          <a:ln w="25400">
            <a:solidFill>
              <a:srgbClr val="F4A261"/>
            </a:solidFill>
            <a:prstDash val="solid"/>
          </a:ln>
        </p:spPr>
      </p:sp>
      <p:sp>
        <p:nvSpPr>
          <p:cNvPr id="8" name="Text 6"/>
          <p:cNvSpPr/>
          <p:nvPr/>
        </p:nvSpPr>
        <p:spPr>
          <a:xfrm>
            <a:off x="4436517" y="2214811"/>
            <a:ext cx="3418535"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4A261"/>
                </a:solidFill>
                <a:latin typeface="Space Grotesk" pitchFamily="34" charset="0"/>
                <a:ea typeface="Space Grotesk" pitchFamily="34" charset="-122"/>
                <a:cs typeface="Space Grotesk" pitchFamily="34" charset="-120"/>
              </a:rPr>
              <a:t>Next</a:t>
            </a:r>
            <a:endParaRPr lang="en-US" sz="3600" dirty="0"/>
          </a:p>
        </p:txBody>
      </p:sp>
      <p:sp>
        <p:nvSpPr>
          <p:cNvPr id="9" name="Text 7"/>
          <p:cNvSpPr/>
          <p:nvPr/>
        </p:nvSpPr>
        <p:spPr>
          <a:xfrm>
            <a:off x="4436517" y="2819301"/>
            <a:ext cx="3418535" cy="1371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2E3"/>
                </a:solidFill>
                <a:latin typeface="DM Sans" pitchFamily="34" charset="0"/>
                <a:ea typeface="DM Sans" pitchFamily="34" charset="-122"/>
                <a:cs typeface="DM Sans" pitchFamily="34" charset="-120"/>
              </a:rPr>
              <a:t>Merge the updates into the main branch; polish the demo on the 5,000-employee company</a:t>
            </a:r>
            <a:endParaRPr lang="en-US" sz="1600" dirty="0"/>
          </a:p>
        </p:txBody>
      </p:sp>
      <p:sp>
        <p:nvSpPr>
          <p:cNvPr id="10" name="Shape 8"/>
          <p:cNvSpPr/>
          <p:nvPr/>
        </p:nvSpPr>
        <p:spPr>
          <a:xfrm>
            <a:off x="8060283" y="2049711"/>
            <a:ext cx="3318917" cy="0"/>
          </a:xfrm>
          <a:prstGeom prst="line">
            <a:avLst/>
          </a:prstGeom>
          <a:noFill/>
          <a:ln w="25400">
            <a:solidFill>
              <a:srgbClr val="F4A261"/>
            </a:solidFill>
            <a:prstDash val="solid"/>
          </a:ln>
        </p:spPr>
      </p:sp>
      <p:sp>
        <p:nvSpPr>
          <p:cNvPr id="11" name="Text 9"/>
          <p:cNvSpPr/>
          <p:nvPr/>
        </p:nvSpPr>
        <p:spPr>
          <a:xfrm>
            <a:off x="8060283" y="2214811"/>
            <a:ext cx="3418484"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4A261"/>
                </a:solidFill>
                <a:latin typeface="Space Grotesk" pitchFamily="34" charset="0"/>
                <a:ea typeface="Space Grotesk" pitchFamily="34" charset="-122"/>
                <a:cs typeface="Space Grotesk" pitchFamily="34" charset="-120"/>
              </a:rPr>
              <a:t>Then</a:t>
            </a:r>
            <a:endParaRPr lang="en-US" sz="3600" dirty="0"/>
          </a:p>
        </p:txBody>
      </p:sp>
      <p:sp>
        <p:nvSpPr>
          <p:cNvPr id="12" name="Text 10"/>
          <p:cNvSpPr/>
          <p:nvPr/>
        </p:nvSpPr>
        <p:spPr>
          <a:xfrm>
            <a:off x="8060283" y="2819301"/>
            <a:ext cx="3418484" cy="1371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2E3"/>
                </a:solidFill>
                <a:latin typeface="DM Sans" pitchFamily="34" charset="0"/>
                <a:ea typeface="DM Sans" pitchFamily="34" charset="-122"/>
                <a:cs typeface="DM Sans" pitchFamily="34" charset="-120"/>
              </a:rPr>
              <a:t>Salary by pay band, then real company data with pilot partners</a:t>
            </a:r>
            <a:endParaRPr lang="en-US" sz="1600" dirty="0"/>
          </a:p>
        </p:txBody>
      </p:sp>
      <p:sp>
        <p:nvSpPr>
          <p:cNvPr id="13" name="Text 11"/>
          <p:cNvSpPr/>
          <p:nvPr/>
        </p:nvSpPr>
        <p:spPr>
          <a:xfrm>
            <a:off x="812800" y="4434840"/>
            <a:ext cx="10566400" cy="690860"/>
          </a:xfrm>
          <a:prstGeom prst="roundRect">
            <a:avLst>
              <a:gd name="adj" fmla="val 14706"/>
            </a:avLst>
          </a:prstGeom>
          <a:solidFill>
            <a:srgbClr val="F4A261"/>
          </a:solidFill>
          <a:ln/>
        </p:spPr>
        <p:txBody>
          <a:bodyPr wrap="square" lIns="275042" tIns="173442" rIns="275042" bIns="148042" rtlCol="0" anchor="t">
            <a:normAutofit/>
          </a:bodyPr>
          <a:lstStyle/>
          <a:p>
            <a:pPr algn="l" indent="0" marL="0">
              <a:lnSpc>
                <a:spcPts val="2240"/>
              </a:lnSpc>
              <a:buNone/>
            </a:pPr>
            <a:r>
              <a:rPr lang="en-US" sz="1600" b="1" dirty="0">
                <a:solidFill>
                  <a:srgbClr val="14213D"/>
                </a:solidFill>
                <a:latin typeface="DM Sans" pitchFamily="34" charset="0"/>
                <a:ea typeface="DM Sans" pitchFamily="34" charset="-122"/>
                <a:cs typeface="DM Sans" pitchFamily="34" charset="-120"/>
              </a:rPr>
              <a:t>Our ask:</a:t>
            </a:r>
            <a:r>
              <a:rPr lang="en-US" sz="1600" dirty="0">
                <a:solidFill>
                  <a:srgbClr val="14213D"/>
                </a:solidFill>
                <a:latin typeface="DM Sans" pitchFamily="34" charset="0"/>
                <a:ea typeface="DM Sans" pitchFamily="34" charset="-122"/>
                <a:cs typeface="DM Sans" pitchFamily="34" charset="-120"/>
              </a:rPr>
              <a:t> [$__ in funding] and [__] pilot companies to test the agent on real data.</a:t>
            </a:r>
            <a:endParaRPr lang="en-US" sz="16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BD"/>
                </a:solidFill>
                <a:latin typeface="DM Sans" pitchFamily="34" charset="0"/>
                <a:ea typeface="DM Sans" pitchFamily="34" charset="-122"/>
                <a:cs typeface="DM Sans" pitchFamily="34" charset="-120"/>
              </a:rPr>
              <a:t>[Founder names] · [email]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4E15"/>
                </a:solidFill>
                <a:latin typeface="DM Sans" pitchFamily="34" charset="0"/>
                <a:ea typeface="DM Sans" pitchFamily="34" charset="-122"/>
                <a:cs typeface="DM Sans" pitchFamily="34" charset="-120"/>
              </a:rPr>
              <a:t>APPENDIX · FINANCIAL RIGOR, CONTINUED</a:t>
            </a:r>
            <a:endParaRPr lang="en-US" sz="1200" dirty="0"/>
          </a:p>
        </p:txBody>
      </p:sp>
      <p:sp>
        <p:nvSpPr>
          <p:cNvPr id="3" name="Text 1"/>
          <p:cNvSpPr/>
          <p:nvPr>
            <p:ph type="title"/>
          </p:nvPr>
        </p:nvSpPr>
        <p:spPr>
          <a:xfrm>
            <a:off x="812800" y="1229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Four more safeguards behind every figure</a:t>
            </a:r>
            <a:endParaRPr lang="en-US" sz="3600" dirty="0"/>
          </a:p>
        </p:txBody>
      </p:sp>
      <p:sp>
        <p:nvSpPr>
          <p:cNvPr id="4" name="Shape 2"/>
          <p:cNvSpPr/>
          <p:nvPr/>
        </p:nvSpPr>
        <p:spPr>
          <a:xfrm>
            <a:off x="813816" y="2103120"/>
            <a:ext cx="2523744" cy="3108960"/>
          </a:xfrm>
          <a:prstGeom prst="roundRect">
            <a:avLst>
              <a:gd name="adj" fmla="val 6307"/>
            </a:avLst>
          </a:prstGeom>
          <a:solidFill>
            <a:srgbClr val="FDFCF9"/>
          </a:solidFill>
          <a:ln w="6350">
            <a:solidFill>
              <a:srgbClr val="DDD8CC"/>
            </a:solidFill>
            <a:prstDash val="solid"/>
          </a:ln>
        </p:spPr>
      </p:sp>
      <p:sp>
        <p:nvSpPr>
          <p:cNvPr id="5" name="Text 3"/>
          <p:cNvSpPr/>
          <p:nvPr/>
        </p:nvSpPr>
        <p:spPr>
          <a:xfrm>
            <a:off x="1024128" y="2331720"/>
            <a:ext cx="2103120" cy="640080"/>
          </a:xfrm>
          <a:prstGeom prst="rect">
            <a:avLst/>
          </a:prstGeom>
          <a:noFill/>
          <a:ln/>
        </p:spPr>
        <p:txBody>
          <a:bodyPr wrap="square" lIns="0" tIns="0" rIns="0" bIns="0" rtlCol="0" anchor="t">
            <a:normAutofit/>
          </a:bodyPr>
          <a:lstStyle/>
          <a:p>
            <a:pPr algn="l" indent="0" marL="0">
              <a:buNone/>
            </a:pPr>
            <a:r>
              <a:rPr lang="en-US" sz="1800" b="1" dirty="0">
                <a:solidFill>
                  <a:srgbClr val="B84E15"/>
                </a:solidFill>
                <a:latin typeface="DM Sans" pitchFamily="34" charset="0"/>
                <a:ea typeface="DM Sans" pitchFamily="34" charset="-122"/>
                <a:cs typeface="DM Sans" pitchFamily="34" charset="-120"/>
              </a:rPr>
              <a:t>Cost vs opportunity</a:t>
            </a:r>
            <a:endParaRPr lang="en-US" sz="1600" dirty="0"/>
          </a:p>
        </p:txBody>
      </p:sp>
      <p:sp>
        <p:nvSpPr>
          <p:cNvPr id="6" name="Text 4"/>
          <p:cNvSpPr/>
          <p:nvPr/>
        </p:nvSpPr>
        <p:spPr>
          <a:xfrm>
            <a:off x="1024128" y="3017520"/>
            <a:ext cx="2103120" cy="2011680"/>
          </a:xfrm>
          <a:prstGeom prst="rect">
            <a:avLst/>
          </a:prstGeom>
          <a:noFill/>
          <a:ln/>
        </p:spPr>
        <p:txBody>
          <a:bodyPr wrap="square" lIns="0" tIns="0" rIns="0" bIns="0" rtlCol="0" anchor="t">
            <a:normAutofit/>
          </a:bodyPr>
          <a:lstStyle/>
          <a:p>
            <a:pPr algn="l" indent="0" marL="0">
              <a:buNone/>
            </a:pPr>
            <a:r>
              <a:rPr lang="en-US" sz="1400" dirty="0">
                <a:solidFill>
                  <a:srgbClr val="4A5568"/>
                </a:solidFill>
                <a:latin typeface="DM Sans" pitchFamily="34" charset="0"/>
                <a:ea typeface="DM Sans" pitchFamily="34" charset="-122"/>
                <a:cs typeface="DM Sans" pitchFamily="34" charset="-120"/>
              </a:rPr>
              <a:t>Today's cost is kept apart from what a program could change, which is labelled an opportunity, never a realized return.</a:t>
            </a:r>
            <a:endParaRPr lang="en-US" sz="1200" dirty="0"/>
          </a:p>
        </p:txBody>
      </p:sp>
      <p:sp>
        <p:nvSpPr>
          <p:cNvPr id="19" name="Shape 17"/>
          <p:cNvSpPr/>
          <p:nvPr/>
        </p:nvSpPr>
        <p:spPr>
          <a:xfrm>
            <a:off x="3493008" y="2103120"/>
            <a:ext cx="2523744" cy="3108960"/>
          </a:xfrm>
          <a:prstGeom prst="roundRect">
            <a:avLst>
              <a:gd name="adj" fmla="val 6307"/>
            </a:avLst>
          </a:prstGeom>
          <a:solidFill>
            <a:srgbClr val="FDFCF9"/>
          </a:solidFill>
          <a:ln w="6350">
            <a:solidFill>
              <a:srgbClr val="DDD8CC"/>
            </a:solidFill>
            <a:prstDash val="solid"/>
          </a:ln>
        </p:spPr>
      </p:sp>
      <p:sp>
        <p:nvSpPr>
          <p:cNvPr id="20" name="Text 18"/>
          <p:cNvSpPr/>
          <p:nvPr/>
        </p:nvSpPr>
        <p:spPr>
          <a:xfrm>
            <a:off x="3703320" y="2331720"/>
            <a:ext cx="2103120" cy="640080"/>
          </a:xfrm>
          <a:prstGeom prst="rect">
            <a:avLst/>
          </a:prstGeom>
          <a:noFill/>
          <a:ln/>
        </p:spPr>
        <p:txBody>
          <a:bodyPr wrap="square" lIns="0" tIns="0" rIns="0" bIns="0" rtlCol="0" anchor="t">
            <a:normAutofit/>
          </a:bodyPr>
          <a:lstStyle/>
          <a:p>
            <a:pPr algn="l" indent="0" marL="0">
              <a:buNone/>
            </a:pPr>
            <a:r>
              <a:rPr lang="en-US" sz="1800" b="1" dirty="0">
                <a:solidFill>
                  <a:srgbClr val="B84E15"/>
                </a:solidFill>
                <a:latin typeface="DM Sans" pitchFamily="34" charset="0"/>
                <a:ea typeface="DM Sans" pitchFamily="34" charset="-122"/>
                <a:cs typeface="DM Sans" pitchFamily="34" charset="-120"/>
              </a:rPr>
              <a:t>No double counting</a:t>
            </a:r>
            <a:endParaRPr lang="en-US" sz="1600" dirty="0"/>
          </a:p>
        </p:txBody>
      </p:sp>
      <p:sp>
        <p:nvSpPr>
          <p:cNvPr id="21" name="Text 19"/>
          <p:cNvSpPr/>
          <p:nvPr/>
        </p:nvSpPr>
        <p:spPr>
          <a:xfrm>
            <a:off x="3703320" y="3017520"/>
            <a:ext cx="2103120" cy="2011680"/>
          </a:xfrm>
          <a:prstGeom prst="rect">
            <a:avLst/>
          </a:prstGeom>
          <a:noFill/>
          <a:ln/>
        </p:spPr>
        <p:txBody>
          <a:bodyPr wrap="square" lIns="0" tIns="0" rIns="0" bIns="0" rtlCol="0" anchor="t">
            <a:normAutofit/>
          </a:bodyPr>
          <a:lstStyle/>
          <a:p>
            <a:pPr algn="l" indent="0" marL="0">
              <a:buNone/>
            </a:pPr>
            <a:r>
              <a:rPr lang="en-US" sz="1400" dirty="0">
                <a:solidFill>
                  <a:srgbClr val="4A5568"/>
                </a:solidFill>
                <a:latin typeface="DM Sans" pitchFamily="34" charset="0"/>
                <a:ea typeface="DM Sans" pitchFamily="34" charset="-122"/>
                <a:cs typeface="DM Sans" pitchFamily="34" charset="-120"/>
              </a:rPr>
              <a:t>People helped by more than one question count once, and warnings appear under the program when values could overlap.</a:t>
            </a:r>
            <a:endParaRPr lang="en-US" sz="1200" dirty="0"/>
          </a:p>
        </p:txBody>
      </p:sp>
      <p:sp>
        <p:nvSpPr>
          <p:cNvPr id="22" name="Shape 20"/>
          <p:cNvSpPr/>
          <p:nvPr/>
        </p:nvSpPr>
        <p:spPr>
          <a:xfrm>
            <a:off x="6172200" y="2103120"/>
            <a:ext cx="2523744" cy="3108960"/>
          </a:xfrm>
          <a:prstGeom prst="roundRect">
            <a:avLst>
              <a:gd name="adj" fmla="val 6307"/>
            </a:avLst>
          </a:prstGeom>
          <a:solidFill>
            <a:srgbClr val="FDFCF9"/>
          </a:solidFill>
          <a:ln w="6350">
            <a:solidFill>
              <a:srgbClr val="DDD8CC"/>
            </a:solidFill>
            <a:prstDash val="solid"/>
          </a:ln>
        </p:spPr>
      </p:sp>
      <p:sp>
        <p:nvSpPr>
          <p:cNvPr id="23" name="Text 21"/>
          <p:cNvSpPr/>
          <p:nvPr/>
        </p:nvSpPr>
        <p:spPr>
          <a:xfrm>
            <a:off x="6382512" y="2331720"/>
            <a:ext cx="2103120" cy="640080"/>
          </a:xfrm>
          <a:prstGeom prst="rect">
            <a:avLst/>
          </a:prstGeom>
          <a:noFill/>
          <a:ln/>
        </p:spPr>
        <p:txBody>
          <a:bodyPr wrap="square" lIns="0" tIns="0" rIns="0" bIns="0" rtlCol="0" anchor="t">
            <a:normAutofit/>
          </a:bodyPr>
          <a:lstStyle/>
          <a:p>
            <a:pPr algn="l" indent="0" marL="0">
              <a:buNone/>
            </a:pPr>
            <a:r>
              <a:rPr lang="en-US" sz="1800" b="1" dirty="0">
                <a:solidFill>
                  <a:srgbClr val="B84E15"/>
                </a:solidFill>
                <a:latin typeface="DM Sans" pitchFamily="34" charset="0"/>
                <a:ea typeface="DM Sans" pitchFamily="34" charset="-122"/>
                <a:cs typeface="DM Sans" pitchFamily="34" charset="-120"/>
              </a:rPr>
              <a:t>Productivity value</a:t>
            </a:r>
            <a:endParaRPr lang="en-US" sz="1600" dirty="0"/>
          </a:p>
        </p:txBody>
      </p:sp>
      <p:sp>
        <p:nvSpPr>
          <p:cNvPr id="24" name="Text 22"/>
          <p:cNvSpPr/>
          <p:nvPr/>
        </p:nvSpPr>
        <p:spPr>
          <a:xfrm>
            <a:off x="6382512" y="3017520"/>
            <a:ext cx="2103120" cy="2011680"/>
          </a:xfrm>
          <a:prstGeom prst="rect">
            <a:avLst/>
          </a:prstGeom>
          <a:noFill/>
          <a:ln/>
        </p:spPr>
        <p:txBody>
          <a:bodyPr wrap="square" lIns="0" tIns="0" rIns="0" bIns="0" rtlCol="0" anchor="t">
            <a:normAutofit/>
          </a:bodyPr>
          <a:lstStyle/>
          <a:p>
            <a:pPr algn="l" indent="0" marL="0">
              <a:buNone/>
            </a:pPr>
            <a:r>
              <a:rPr lang="en-US" sz="1400" dirty="0">
                <a:solidFill>
                  <a:srgbClr val="4A5568"/>
                </a:solidFill>
                <a:latin typeface="DM Sans" pitchFamily="34" charset="0"/>
                <a:ea typeface="DM Sans" pitchFamily="34" charset="-122"/>
                <a:cs typeface="DM Sans" pitchFamily="34" charset="-120"/>
              </a:rPr>
              <a:t>Optional utility analysis (Hunter-Schmidt), the method Gallup describes for productivity. Off by default; needs a company-supplied SD.</a:t>
            </a:r>
            <a:endParaRPr lang="en-US" sz="1200" dirty="0"/>
          </a:p>
        </p:txBody>
      </p:sp>
      <p:sp>
        <p:nvSpPr>
          <p:cNvPr id="25" name="Shape 23"/>
          <p:cNvSpPr/>
          <p:nvPr/>
        </p:nvSpPr>
        <p:spPr>
          <a:xfrm>
            <a:off x="8851392" y="2103120"/>
            <a:ext cx="2523744" cy="3108960"/>
          </a:xfrm>
          <a:prstGeom prst="roundRect">
            <a:avLst>
              <a:gd name="adj" fmla="val 6484"/>
            </a:avLst>
          </a:prstGeom>
          <a:solidFill>
            <a:srgbClr val="14213D"/>
          </a:solidFill>
          <a:ln/>
        </p:spPr>
      </p:sp>
      <p:sp>
        <p:nvSpPr>
          <p:cNvPr id="26" name="Text 24"/>
          <p:cNvSpPr/>
          <p:nvPr/>
        </p:nvSpPr>
        <p:spPr>
          <a:xfrm>
            <a:off x="9061704" y="2331720"/>
            <a:ext cx="2103120" cy="640080"/>
          </a:xfrm>
          <a:prstGeom prst="rect">
            <a:avLst/>
          </a:prstGeom>
          <a:noFill/>
          <a:ln/>
        </p:spPr>
        <p:txBody>
          <a:bodyPr wrap="square" lIns="0" tIns="0" rIns="0" bIns="0" rtlCol="0" anchor="t">
            <a:normAutofit/>
          </a:bodyPr>
          <a:lstStyle/>
          <a:p>
            <a:pPr algn="l" indent="0" marL="0">
              <a:buNone/>
            </a:pPr>
            <a:r>
              <a:rPr lang="en-US" sz="1800" b="1" dirty="0">
                <a:solidFill>
                  <a:srgbClr val="F4A261"/>
                </a:solidFill>
                <a:latin typeface="DM Sans" pitchFamily="34" charset="0"/>
                <a:ea typeface="DM Sans" pitchFamily="34" charset="-122"/>
                <a:cs typeface="DM Sans" pitchFamily="34" charset="-120"/>
              </a:rPr>
              <a:t>Gallup check</a:t>
            </a:r>
            <a:endParaRPr lang="en-US" sz="1600" dirty="0"/>
          </a:p>
        </p:txBody>
      </p:sp>
      <p:sp>
        <p:nvSpPr>
          <p:cNvPr id="27" name="Text 25"/>
          <p:cNvSpPr/>
          <p:nvPr/>
        </p:nvSpPr>
        <p:spPr>
          <a:xfrm>
            <a:off x="9061704" y="3017520"/>
            <a:ext cx="2103120" cy="2011680"/>
          </a:xfrm>
          <a:prstGeom prst="rect">
            <a:avLst/>
          </a:prstGeom>
          <a:noFill/>
          <a:ln/>
        </p:spPr>
        <p:txBody>
          <a:bodyPr wrap="square" lIns="0" tIns="0" rIns="0" bIns="0" rtlCol="0" anchor="t">
            <a:normAutofit/>
          </a:bodyPr>
          <a:lstStyle/>
          <a:p>
            <a:pPr algn="l" indent="0" marL="0">
              <a:buNone/>
            </a:pPr>
            <a:r>
              <a:rPr lang="en-US" sz="1400" dirty="0">
                <a:solidFill>
                  <a:srgbClr val="C9D2E3"/>
                </a:solidFill>
                <a:latin typeface="DM Sans" pitchFamily="34" charset="0"/>
                <a:ea typeface="DM Sans" pitchFamily="34" charset="-122"/>
                <a:cs typeface="DM Sans" pitchFamily="34" charset="-120"/>
              </a:rPr>
              <a:t>Team-level links in our 5K sample fall within the range of Gallup's 2024 meta-analysis. A plausibility check only; no dollar figure uses Gallup's numbers.</a:t>
            </a:r>
            <a:endParaRPr lang="en-US" sz="12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E15"/>
                </a:solidFill>
                <a:latin typeface="DM Sans" pitchFamily="34" charset="0"/>
                <a:ea typeface="DM Sans" pitchFamily="34" charset="-122"/>
                <a:cs typeface="DM Sans" pitchFamily="34" charset="-120"/>
              </a:rPr>
              <a:t>Engagia · 12</a:t>
            </a:r>
            <a:endParaRPr lang="en-US" sz="1200" dirty="0"/>
          </a:p>
        </p:txBody>
      </p:sp>
    </p:spTree>
  </p:cSld>
  <p:clrMapOvr>
    <a:masterClrMapping/>
  </p:clrMapOvr>
</p:sld>
</file>

<file path=ppt/theme/theme1.xml><?xml version="1.0" encoding="utf-8"?>
<a:theme xmlns:a="http://schemas.openxmlformats.org/drawingml/2006/main" name="Engagia Investor Pitch">
  <a:themeElements>
    <a:clrScheme name="Engagia Investor Pitch">
      <a:dk1>
        <a:srgbClr val="14213D"/>
      </a:dk1>
      <a:lt1>
        <a:srgbClr val="F7F5F0"/>
      </a:lt1>
      <a:dk2>
        <a:srgbClr val="4D566A"/>
      </a:dk2>
      <a:lt2>
        <a:srgbClr val="E0E0DE"/>
      </a:lt2>
      <a:accent1>
        <a:srgbClr val="B84E15"/>
      </a:accent1>
      <a:accent2>
        <a:srgbClr val="F4A261"/>
      </a:accent2>
      <a:accent3>
        <a:srgbClr val="4A5568"/>
      </a:accent3>
      <a:accent4>
        <a:srgbClr val="C9D2E3"/>
      </a:accent4>
      <a:accent5>
        <a:srgbClr val="6A7179"/>
      </a:accent5>
      <a:accent6>
        <a:srgbClr val="9AA6BD"/>
      </a:accent6>
      <a:hlink>
        <a:srgbClr val="0563C1"/>
      </a:hlink>
      <a:folHlink>
        <a:srgbClr val="954F72"/>
      </a:folHlink>
    </a:clrScheme>
    <a:fontScheme name="Engagia Investor Pitch">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7CF52F0AE2BF4291830E3968636BA1" ma:contentTypeVersion="9" ma:contentTypeDescription="Create a new document." ma:contentTypeScope="" ma:versionID="787daaa3c6d229a674a032c40264a224">
  <xsd:schema xmlns:xsd="http://www.w3.org/2001/XMLSchema" xmlns:xs="http://www.w3.org/2001/XMLSchema" xmlns:p="http://schemas.microsoft.com/office/2006/metadata/properties" xmlns:ns2="9b92e213-09f2-45a3-879c-1c3aeb5db3f2" xmlns:ns3="2c4946ba-b680-45c8-ba5b-1e7336ae5efb" targetNamespace="http://schemas.microsoft.com/office/2006/metadata/properties" ma:root="true" ma:fieldsID="a5b35e96aec074750d25b51851d6cf71" ns2:_="" ns3:_="">
    <xsd:import namespace="9b92e213-09f2-45a3-879c-1c3aeb5db3f2"/>
    <xsd:import namespace="2c4946ba-b680-45c8-ba5b-1e7336ae5ef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92e213-09f2-45a3-879c-1c3aeb5db3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aa0dddc-029d-4427-b048-948969840901"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c4946ba-b680-45c8-ba5b-1e7336ae5ef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92bab80-b5d2-4fd1-8539-19de73bea4ec}" ma:internalName="TaxCatchAll" ma:showField="CatchAllData" ma:web="2c4946ba-b680-45c8-ba5b-1e7336ae5ef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b92e213-09f2-45a3-879c-1c3aeb5db3f2">
      <Terms xmlns="http://schemas.microsoft.com/office/infopath/2007/PartnerControls"/>
    </lcf76f155ced4ddcb4097134ff3c332f>
    <TaxCatchAll xmlns="2c4946ba-b680-45c8-ba5b-1e7336ae5efb" xsi:nil="true"/>
  </documentManagement>
</p:properties>
</file>

<file path=customXml/itemProps1.xml><?xml version="1.0" encoding="utf-8"?>
<ds:datastoreItem xmlns:ds="http://schemas.openxmlformats.org/officeDocument/2006/customXml" ds:itemID="{DC39DAE1-A6FF-4AC7-9E52-1ED4873BB524}"/>
</file>

<file path=customXml/itemProps2.xml><?xml version="1.0" encoding="utf-8"?>
<ds:datastoreItem xmlns:ds="http://schemas.openxmlformats.org/officeDocument/2006/customXml" ds:itemID="{E2E155A8-07F2-4597-9A25-8496C5476BFE}"/>
</file>

<file path=customXml/itemProps3.xml><?xml version="1.0" encoding="utf-8"?>
<ds:datastoreItem xmlns:ds="http://schemas.openxmlformats.org/officeDocument/2006/customXml" ds:itemID="{E4209AB3-C45B-4F2A-B79A-E14FF06984E4}"/>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Engagia Investor Pitch</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
  <cp:revision>1</cp:revision>
  <dcterms:created xsi:type="dcterms:W3CDTF">2026-10-23T23:31:42Z</dcterms:created>
  <dcterms:modified xsi:type="dcterms:W3CDTF">2026-10-23T23:31:42Z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0x010100267CF52F0AE2BF4291830E3968636BA1</vt:lpwstr>
  </property>
</Properties>
</file>